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  <p:sldMasterId id="2147483676" r:id="rId5"/>
    <p:sldMasterId id="2147483662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881"/>
    <a:srgbClr val="4A4A49"/>
    <a:srgbClr val="C0392B"/>
    <a:srgbClr val="B5EAE0"/>
    <a:srgbClr val="89F7E2"/>
    <a:srgbClr val="9AE8F4"/>
    <a:srgbClr val="00659B"/>
    <a:srgbClr val="BDE7FF"/>
    <a:srgbClr val="EB6608"/>
    <a:srgbClr val="FDE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3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6.7578487579540367E-2"/>
          <c:y val="3.06571884324651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009EE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8-46D1-B2F1-B76DBFE9E6A2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rgbClr val="B1006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38-46D1-B2F1-B76DBFE9E6A2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rgbClr val="EB660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38-46D1-B2F1-B76DBFE9E6A2}"/>
            </c:ext>
          </c:extLst>
        </c:ser>
        <c:ser>
          <c:idx val="3"/>
          <c:order val="3"/>
          <c:tx>
            <c:strRef>
              <c:f>List1!$E$1</c:f>
              <c:strCache>
                <c:ptCount val="1"/>
                <c:pt idx="0">
                  <c:v>Řada 4</c:v>
                </c:pt>
              </c:strCache>
            </c:strRef>
          </c:tx>
          <c:spPr>
            <a:solidFill>
              <a:srgbClr val="00659B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List1!$E$2:$E$5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67-4343-BFC8-39C31FD3D7F6}"/>
            </c:ext>
          </c:extLst>
        </c:ser>
        <c:ser>
          <c:idx val="4"/>
          <c:order val="4"/>
          <c:tx>
            <c:strRef>
              <c:f>List1!$F$1</c:f>
              <c:strCache>
                <c:ptCount val="1"/>
                <c:pt idx="0">
                  <c:v>Řada 5</c:v>
                </c:pt>
              </c:strCache>
            </c:strRef>
          </c:tx>
          <c:spPr>
            <a:solidFill>
              <a:srgbClr val="00988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List1!$F$2:$F$5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67-4343-BFC8-39C31FD3D7F6}"/>
            </c:ext>
          </c:extLst>
        </c:ser>
        <c:ser>
          <c:idx val="5"/>
          <c:order val="5"/>
          <c:tx>
            <c:strRef>
              <c:f>List1!$G$1</c:f>
              <c:strCache>
                <c:ptCount val="1"/>
                <c:pt idx="0">
                  <c:v>Řada 6</c:v>
                </c:pt>
              </c:strCache>
            </c:strRef>
          </c:tx>
          <c:spPr>
            <a:solidFill>
              <a:srgbClr val="5BC4F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List1!$G$2:$G$5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A67-4343-BFC8-39C31FD3D7F6}"/>
            </c:ext>
          </c:extLst>
        </c:ser>
        <c:ser>
          <c:idx val="6"/>
          <c:order val="6"/>
          <c:tx>
            <c:strRef>
              <c:f>List1!$H$1</c:f>
              <c:strCache>
                <c:ptCount val="1"/>
                <c:pt idx="0">
                  <c:v>Řada 13</c:v>
                </c:pt>
              </c:strCache>
            </c:strRef>
          </c:tx>
          <c:spPr>
            <a:solidFill>
              <a:srgbClr val="E7308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List1!$H$2:$H$5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67-4343-BFC8-39C31FD3D7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6283247"/>
        <c:axId val="336943279"/>
      </c:barChart>
      <c:catAx>
        <c:axId val="336283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943279"/>
        <c:crosses val="autoZero"/>
        <c:auto val="1"/>
        <c:lblAlgn val="ctr"/>
        <c:lblOffset val="100"/>
        <c:noMultiLvlLbl val="0"/>
      </c:catAx>
      <c:valAx>
        <c:axId val="336943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283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ln(Words₁ₐ)  (βₗₑₙ)</c:v>
                </c:pt>
              </c:strCache>
            </c:strRef>
          </c:tx>
          <c:spPr>
            <a:solidFill>
              <a:srgbClr val="009881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5 d</c:v>
                </c:pt>
                <c:pt idx="1">
                  <c:v>10 d</c:v>
                </c:pt>
                <c:pt idx="2">
                  <c:v>30 d</c:v>
                </c:pt>
                <c:pt idx="3">
                  <c:v>90 d</c:v>
                </c:pt>
                <c:pt idx="4">
                  <c:v>180 d</c:v>
                </c:pt>
                <c:pt idx="5">
                  <c:v>365 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0.14199999999999999</c:v>
                </c:pt>
                <c:pt idx="1">
                  <c:v>0.13200000000000001</c:v>
                </c:pt>
                <c:pt idx="2">
                  <c:v>0.121</c:v>
                </c:pt>
                <c:pt idx="3">
                  <c:v>9.4E-2</c:v>
                </c:pt>
                <c:pt idx="4">
                  <c:v>7.8E-2</c:v>
                </c:pt>
                <c:pt idx="5">
                  <c:v>6.0999999999999999E-2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21D-4CD0-9050-156FEBB5AF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LitDensity  (βₗᵢₜ, /10)</c:v>
                </c:pt>
              </c:strCache>
            </c:strRef>
          </c:tx>
          <c:spPr>
            <a:solidFill>
              <a:srgbClr val="C0392B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5 d</c:v>
                </c:pt>
                <c:pt idx="1">
                  <c:v>10 d</c:v>
                </c:pt>
                <c:pt idx="2">
                  <c:v>30 d</c:v>
                </c:pt>
                <c:pt idx="3">
                  <c:v>90 d</c:v>
                </c:pt>
                <c:pt idx="4">
                  <c:v>180 d</c:v>
                </c:pt>
                <c:pt idx="5">
                  <c:v>365 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-0.52</c:v>
                </c:pt>
                <c:pt idx="1">
                  <c:v>-0.61</c:v>
                </c:pt>
                <c:pt idx="2">
                  <c:v>-0.62</c:v>
                </c:pt>
                <c:pt idx="3">
                  <c:v>-0.55000000000000004</c:v>
                </c:pt>
                <c:pt idx="4">
                  <c:v>-0.4</c:v>
                </c:pt>
                <c:pt idx="5">
                  <c:v>-0.28000000000000003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392B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21D-4CD0-9050-156FEBB5AF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UncDensity  (βᵤₙᶜ, /10)</c:v>
                </c:pt>
              </c:strCache>
            </c:strRef>
          </c:tx>
          <c:spPr>
            <a:solidFill>
              <a:srgbClr val="4A4A49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5 d</c:v>
                </c:pt>
                <c:pt idx="1">
                  <c:v>10 d</c:v>
                </c:pt>
                <c:pt idx="2">
                  <c:v>30 d</c:v>
                </c:pt>
                <c:pt idx="3">
                  <c:v>90 d</c:v>
                </c:pt>
                <c:pt idx="4">
                  <c:v>180 d</c:v>
                </c:pt>
                <c:pt idx="5">
                  <c:v>365 d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-0.1</c:v>
                </c:pt>
                <c:pt idx="1">
                  <c:v>-0.11</c:v>
                </c:pt>
                <c:pt idx="2">
                  <c:v>-0.13</c:v>
                </c:pt>
                <c:pt idx="3">
                  <c:v>-0.09</c:v>
                </c:pt>
                <c:pt idx="4">
                  <c:v>-0.06</c:v>
                </c:pt>
                <c:pt idx="5">
                  <c:v>-0.04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4A4A49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121D-4CD0-9050-156FEBB5AF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high"/>
        <c:txPr>
          <a:bodyPr/>
          <a:lstStyle/>
          <a:p>
            <a:pPr>
              <a:defRPr sz="1000" b="1">
                <a:solidFill>
                  <a:srgbClr val="4A4A49"/>
                </a:solidFill>
                <a:latin typeface="Arial"/>
              </a:defRPr>
            </a:pPr>
            <a:endParaRPr lang="cs-CZ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25"/>
          <c:min val="-0.75"/>
        </c:scaling>
        <c:delete val="0"/>
        <c:axPos val="l"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A4A49"/>
                </a:solidFill>
                <a:latin typeface="Arial"/>
              </a:defRPr>
            </a:pPr>
            <a:endParaRPr lang="cs-CZ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Arial"/>
            </a:defRPr>
          </a:pPr>
          <a:endParaRPr lang="cs-CZ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β  (h = 30 d)</c:v>
                </c:pt>
              </c:strCache>
            </c:strRef>
          </c:tx>
          <c:spPr>
            <a:solidFill>
              <a:srgbClr val="009881"/>
            </a:solidFill>
            <a:ln>
              <a:noFill/>
            </a:ln>
          </c:spPr>
          <c:invertIfNegative val="1"/>
          <c:dPt>
            <c:idx val="1"/>
            <c:invertIfNegative val="0"/>
            <c:bubble3D val="0"/>
            <c:spPr>
              <a:solidFill>
                <a:srgbClr val="4A4A4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5FF-4E94-B43E-37627F8167AB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4A4A49"/>
                    </a:solidFill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LM-Litigious  (βₗᵢₜ)</c:v>
                </c:pt>
                <c:pt idx="1">
                  <c:v>LM-Uncertainty  (βᵤₙᶜ)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-6.16</c:v>
                </c:pt>
                <c:pt idx="1">
                  <c:v>-1.28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009881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5FF-4E94-B43E-37627F8167A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one"/>
        <c:txPr>
          <a:bodyPr/>
          <a:lstStyle/>
          <a:p>
            <a:pPr>
              <a:defRPr sz="1000">
                <a:solidFill>
                  <a:srgbClr val="4A4A49"/>
                </a:solidFill>
                <a:latin typeface="Arial"/>
              </a:defRPr>
            </a:pPr>
            <a:endParaRPr lang="cs-CZ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-8"/>
        </c:scaling>
        <c:delete val="0"/>
        <c:axPos val="b"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A4A49"/>
                </a:solidFill>
                <a:latin typeface="Arial"/>
              </a:defRPr>
            </a:pPr>
            <a:endParaRPr lang="cs-CZ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latin typeface="Arial" panose="020B0604020202020204" pitchFamily="34" charset="0"/>
              <a:cs typeface="Arial" panose="020B0604020202020204" pitchFamily="34" charset="0"/>
            </a:defRPr>
          </a:pPr>
          <a:endParaRPr lang="cs-CZ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8.1104406130268203E-2"/>
          <c:y val="4.1503267973856207E-2"/>
          <c:w val="0.89456609195402303"/>
          <c:h val="0.8129728758169935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ln(Words₁ₐ)</c:v>
                </c:pt>
              </c:strCache>
            </c:strRef>
          </c:tx>
          <c:spPr>
            <a:ln w="31750">
              <a:solidFill>
                <a:srgbClr val="009881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5 d</c:v>
                </c:pt>
                <c:pt idx="1">
                  <c:v>10 d</c:v>
                </c:pt>
                <c:pt idx="2">
                  <c:v>30 d</c:v>
                </c:pt>
                <c:pt idx="3">
                  <c:v>90 d</c:v>
                </c:pt>
                <c:pt idx="4">
                  <c:v>180 d</c:v>
                </c:pt>
                <c:pt idx="5">
                  <c:v>365 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8.3000000000000007</c:v>
                </c:pt>
                <c:pt idx="1">
                  <c:v>8.1</c:v>
                </c:pt>
                <c:pt idx="2">
                  <c:v>7.64</c:v>
                </c:pt>
                <c:pt idx="3">
                  <c:v>6.2</c:v>
                </c:pt>
                <c:pt idx="4">
                  <c:v>5.0999999999999996</c:v>
                </c:pt>
                <c:pt idx="5">
                  <c:v>4.05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35-4A2C-BB25-528A383E66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LitDensity</c:v>
                </c:pt>
              </c:strCache>
            </c:strRef>
          </c:tx>
          <c:spPr>
            <a:ln w="31750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5 d</c:v>
                </c:pt>
                <c:pt idx="1">
                  <c:v>10 d</c:v>
                </c:pt>
                <c:pt idx="2">
                  <c:v>30 d</c:v>
                </c:pt>
                <c:pt idx="3">
                  <c:v>90 d</c:v>
                </c:pt>
                <c:pt idx="4">
                  <c:v>180 d</c:v>
                </c:pt>
                <c:pt idx="5">
                  <c:v>365 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-1.95</c:v>
                </c:pt>
                <c:pt idx="1">
                  <c:v>-2.88</c:v>
                </c:pt>
                <c:pt idx="2">
                  <c:v>-3.38</c:v>
                </c:pt>
                <c:pt idx="3">
                  <c:v>-3.72</c:v>
                </c:pt>
                <c:pt idx="4">
                  <c:v>-4.0199999999999996</c:v>
                </c:pt>
                <c:pt idx="5">
                  <c:v>-3.1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35-4A2C-BB25-528A383E66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UncDensity</c:v>
                </c:pt>
              </c:strCache>
            </c:strRef>
          </c:tx>
          <c:spPr>
            <a:ln w="31750">
              <a:solidFill>
                <a:srgbClr val="4A4A49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5 d</c:v>
                </c:pt>
                <c:pt idx="1">
                  <c:v>10 d</c:v>
                </c:pt>
                <c:pt idx="2">
                  <c:v>30 d</c:v>
                </c:pt>
                <c:pt idx="3">
                  <c:v>90 d</c:v>
                </c:pt>
                <c:pt idx="4">
                  <c:v>180 d</c:v>
                </c:pt>
                <c:pt idx="5">
                  <c:v>365 d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-0.4</c:v>
                </c:pt>
                <c:pt idx="1">
                  <c:v>-0.55000000000000004</c:v>
                </c:pt>
                <c:pt idx="2">
                  <c:v>-1.01</c:v>
                </c:pt>
                <c:pt idx="3">
                  <c:v>-1.1000000000000001</c:v>
                </c:pt>
                <c:pt idx="4">
                  <c:v>-0.95</c:v>
                </c:pt>
                <c:pt idx="5">
                  <c:v>-0.7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D35-4A2C-BB25-528A383E66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high"/>
        <c:txPr>
          <a:bodyPr/>
          <a:lstStyle/>
          <a:p>
            <a:pPr>
              <a:defRPr sz="1000" b="1">
                <a:solidFill>
                  <a:srgbClr val="4A4A49"/>
                </a:solidFill>
                <a:latin typeface="Arial"/>
              </a:defRPr>
            </a:pPr>
            <a:endParaRPr lang="cs-CZ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"/>
          <c:min val="-5"/>
        </c:scaling>
        <c:delete val="0"/>
        <c:axPos val="l"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A4A49"/>
                </a:solidFill>
                <a:latin typeface="Arial"/>
              </a:defRPr>
            </a:pPr>
            <a:endParaRPr lang="cs-CZ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Arial"/>
            </a:defRPr>
          </a:pPr>
          <a:endParaRPr lang="cs-CZ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2389DD16-FB00-4D9A-B48C-50050FDDC1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838009" y="933549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00988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6BBD7AF0-0104-49C6-B49F-55B685879E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38009" y="1245177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rgbClr val="4A4A49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Název katedry / oddělení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6609EC98-6EA4-4C3E-A04D-5D810F2A42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591" y="2591091"/>
            <a:ext cx="7886701" cy="1782150"/>
          </a:xfrm>
          <a:prstGeom prst="rect">
            <a:avLst/>
          </a:prstGeom>
        </p:spPr>
        <p:txBody>
          <a:bodyPr anchor="t"/>
          <a:lstStyle>
            <a:lvl1pPr algn="l">
              <a:defRPr sz="450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8DECF7AF-89F1-4012-9B20-327F67C10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 dirty="0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1054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9235DDD2-26F3-4A0D-93F4-FB32B5B241D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838009" y="870423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89F7E2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D7300AA5-064D-49EA-BBBE-873363EE328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38009" y="1182051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Jmeno.prijmeni@vse.cz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2206462F-D376-411D-9D76-52EE5EED75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591" y="2591091"/>
            <a:ext cx="7886701" cy="1782150"/>
          </a:xfrm>
          <a:prstGeom prst="rect">
            <a:avLst/>
          </a:prstGeom>
        </p:spPr>
        <p:txBody>
          <a:bodyPr anchor="t"/>
          <a:lstStyle>
            <a:lvl1pPr algn="l">
              <a:defRPr sz="45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A3092441-B532-4881-997F-6A08EF518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 dirty="0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372708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FEBE9D-4844-416F-A47B-E71F5CB3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6471AA-641D-48E4-895F-2C70DDA44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4055"/>
            <a:ext cx="7779544" cy="449337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51239B-9FE1-4DB1-BD79-B7D38D33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E3E641A-DC32-4DD9-8307-46D9DFF5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92F49C3-090D-4190-9CE2-36066030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796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EAB441-3D76-4218-81BE-D7E4F3F92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84F63F-E322-46AC-A5C6-E1540E1BD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939DC5B-E1B0-4FCB-9D9A-C6471A28B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A462326-6725-45D6-8FAC-124BEDCD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B92F161-156E-4802-8F1B-078DF89F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416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FA8AAD-C4A1-48ED-8D79-3AB4069F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9D2D865-A902-4D7C-A0B5-B2C4BB195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CC5CC91-7444-4FBB-B6F3-3E6FBD5B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C05772A-E403-4DD1-B232-954A3547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A89E5D0-757E-45AA-8FEA-238040FB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623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401FF8-98E7-49CB-8B33-E139EF39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F8276E-A998-4BB7-B53A-49EC37A41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53073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5672645-DFF8-41C8-8BAC-5F24D188F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4"/>
            <a:ext cx="3886200" cy="453072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23C31C8-960E-4A18-BC09-35D75D58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E33D9D5-2EC6-4E2A-AA85-6FCF97D65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CF1E174-D347-4AB1-95DE-ECA0F485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111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E112A9-1FE6-4496-81B4-0842D25D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012830"/>
            <a:ext cx="7886700" cy="1325563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F9BFB9E-5D3E-46B3-ABDB-B7E57DAC6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6502C15-7789-4EE7-A643-5A633ABA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85128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6F85072-0475-4304-BE03-A72EA7AC3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F1610A2-3C29-4B70-AF60-C2A3EBCE3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2" y="2505074"/>
            <a:ext cx="3887391" cy="385127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2C164E5-0EFB-46F1-BB95-CBBAC80C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4FD1153-99E6-4ECA-BF33-0E377D33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6282298-48D6-4F29-8798-A54B0577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021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43D58-00E6-4F74-B46F-884BB07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11A4E0E-761B-449A-9AA3-FAB72639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D2199A-57B9-4C7C-A04D-6C8B8F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5D08B6B-5218-473D-BD06-9695102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951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f vz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43D58-00E6-4F74-B46F-884BB07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11A4E0E-761B-449A-9AA3-FAB72639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D2199A-57B9-4C7C-A04D-6C8B8F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5D08B6B-5218-473D-BD06-9695102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8" name="Graf 7">
            <a:extLst>
              <a:ext uri="{FF2B5EF4-FFF2-40B4-BE49-F238E27FC236}">
                <a16:creationId xmlns:a16="http://schemas.microsoft.com/office/drawing/2014/main" id="{A2CFF3E3-BFCF-4550-86A1-C1FA2629A69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058343424"/>
              </p:ext>
            </p:extLst>
          </p:nvPr>
        </p:nvGraphicFramePr>
        <p:xfrm>
          <a:off x="628652" y="1990725"/>
          <a:ext cx="7779543" cy="4147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460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4B6AD0B-CD39-418F-BD86-753F9D9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3563E2-1FFA-41D6-A180-AB12573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07A9ED8-2B82-40D5-A9B1-F2B165B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3595AC0D-E641-4E07-B2CB-74274830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22415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ka vz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4B6AD0B-CD39-418F-BD86-753F9D9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3563E2-1FFA-41D6-A180-AB12573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07A9ED8-2B82-40D5-A9B1-F2B165B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5" name="Tabulka 5">
            <a:extLst>
              <a:ext uri="{FF2B5EF4-FFF2-40B4-BE49-F238E27FC236}">
                <a16:creationId xmlns:a16="http://schemas.microsoft.com/office/drawing/2014/main" id="{9841DB2C-4E87-4F77-9936-DB53842AFF3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49251074"/>
              </p:ext>
            </p:extLst>
          </p:nvPr>
        </p:nvGraphicFramePr>
        <p:xfrm>
          <a:off x="731521" y="2152650"/>
          <a:ext cx="7581899" cy="3605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525">
                  <a:extLst>
                    <a:ext uri="{9D8B030D-6E8A-4147-A177-3AD203B41FA5}">
                      <a16:colId xmlns:a16="http://schemas.microsoft.com/office/drawing/2014/main" val="1219353005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04635521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1360489622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242154581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4556206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004064892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1769508777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3799914238"/>
                    </a:ext>
                  </a:extLst>
                </a:gridCol>
                <a:gridCol w="857699">
                  <a:extLst>
                    <a:ext uri="{9D8B030D-6E8A-4147-A177-3AD203B41FA5}">
                      <a16:colId xmlns:a16="http://schemas.microsoft.com/office/drawing/2014/main" val="1835371581"/>
                    </a:ext>
                  </a:extLst>
                </a:gridCol>
              </a:tblGrid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0454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12970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3975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737182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019941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095225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294286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52544"/>
                  </a:ext>
                </a:extLst>
              </a:tr>
            </a:tbl>
          </a:graphicData>
        </a:graphic>
      </p:graphicFrame>
      <p:sp>
        <p:nvSpPr>
          <p:cNvPr id="14" name="Nadpis 1">
            <a:extLst>
              <a:ext uri="{FF2B5EF4-FFF2-40B4-BE49-F238E27FC236}">
                <a16:creationId xmlns:a16="http://schemas.microsoft.com/office/drawing/2014/main" id="{3595AC0D-E641-4E07-B2CB-74274830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92661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75CB4D-7416-4123-83CE-C769D1CE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87429"/>
            <a:ext cx="2949178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0998F7-E90D-471F-891C-0FD12349B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53689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0F5FE98-251D-4D3C-B8B7-DADD6DEB8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399"/>
            <a:ext cx="2949178" cy="4298955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390EA42-058E-4D22-B615-D930D64C6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78A484A-2BA3-41B7-86CF-5D3F9304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01B4CD1-4B53-455D-AE40-D95A24E4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01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697884-28AE-4700-9C13-68750D37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87429"/>
            <a:ext cx="2949178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173077C-429C-4C0E-8F05-9FFAC62D1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30"/>
            <a:ext cx="4629150" cy="5368924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844AFA-992F-4BE4-ABDB-10F592A44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399"/>
            <a:ext cx="2949178" cy="4298955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0442129-45B5-4C81-B28A-AA85D4F4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12F59-4F02-4916-92FC-440DB3FE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893627A-E54A-4DF9-9A32-88F06F6E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021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719039ED-503B-4BFC-8729-F0E04FD071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-3085"/>
            <a:ext cx="9144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450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4A4A4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rgbClr val="009881"/>
        </a:buClr>
        <a:buFont typeface="Arial" panose="020B0604020202020204" pitchFamily="34" charset="0"/>
        <a:buChar char="•"/>
        <a:defRPr sz="21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5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D3D61E27-7486-4CBD-80A0-7CDBAF7D7A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3085"/>
            <a:ext cx="9144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597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rgbClr val="89F7E2"/>
        </a:buClr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cký objekt 13">
            <a:extLst>
              <a:ext uri="{FF2B5EF4-FFF2-40B4-BE49-F238E27FC236}">
                <a16:creationId xmlns:a16="http://schemas.microsoft.com/office/drawing/2014/main" id="{1664D167-1933-44B8-9DE6-BCF4B4ADB8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4125" y="8313"/>
            <a:ext cx="9148126" cy="6858000"/>
          </a:xfrm>
          <a:prstGeom prst="rect">
            <a:avLst/>
          </a:prstGeom>
        </p:spPr>
      </p:pic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D89BE277-1B57-4A04-A616-0D6719FD6A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46539" y="360307"/>
            <a:ext cx="179594" cy="179594"/>
          </a:xfrm>
          <a:prstGeom prst="rect">
            <a:avLst/>
          </a:prstGeom>
        </p:spPr>
      </p:pic>
      <p:pic>
        <p:nvPicPr>
          <p:cNvPr id="13" name="Grafický objekt 12">
            <a:extLst>
              <a:ext uri="{FF2B5EF4-FFF2-40B4-BE49-F238E27FC236}">
                <a16:creationId xmlns:a16="http://schemas.microsoft.com/office/drawing/2014/main" id="{3CE1673A-F13A-49C1-A0F3-7628437F7F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84010" y="360307"/>
            <a:ext cx="179594" cy="179594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7A972C7-80EA-4001-A2C8-48457C78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4A64F96-20EB-4338-812A-2CF45FA87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924055"/>
            <a:ext cx="7779544" cy="4191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849455D-C2AF-42AF-A377-1FD957033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29ADC-2255-4EF3-B5C0-B90829E78CD9}" type="datetimeFigureOut">
              <a:rPr lang="cs-CZ" smtClean="0"/>
              <a:pPr/>
              <a:t>29.05.2026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E38892D-BE40-4B7B-98A7-1B108AC51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406528-E83B-4FF2-81FD-6E1ED0DE8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25530" y="6356355"/>
            <a:ext cx="1982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5CA258-668E-4A85-A197-2757C3BEE154}" type="slidenum">
              <a:rPr lang="cs-CZ" smtClean="0"/>
              <a:pPr/>
              <a:t>‹#›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ástupný nadpis 1">
            <a:extLst>
              <a:ext uri="{FF2B5EF4-FFF2-40B4-BE49-F238E27FC236}">
                <a16:creationId xmlns:a16="http://schemas.microsoft.com/office/drawing/2014/main" id="{6CADA8D1-4B1D-49C0-B645-EB5D43487BC1}"/>
              </a:ext>
            </a:extLst>
          </p:cNvPr>
          <p:cNvSpPr txBox="1">
            <a:spLocks/>
          </p:cNvSpPr>
          <p:nvPr userDrawn="1"/>
        </p:nvSpPr>
        <p:spPr>
          <a:xfrm>
            <a:off x="8815389" y="6436824"/>
            <a:ext cx="416717" cy="452926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5BC4F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fld id="{166024C8-F27F-4469-B950-3CAEC9128C7E}" type="slidenum">
              <a:rPr lang="cs-CZ" sz="1100" smtClean="0">
                <a:solidFill>
                  <a:schemeClr val="bg1"/>
                </a:solidFill>
              </a:rPr>
              <a:pPr algn="ctr"/>
              <a:t>‹#›</a:t>
            </a:fld>
            <a:endParaRPr lang="cs-CZ" sz="3200" dirty="0">
              <a:solidFill>
                <a:schemeClr val="bg1"/>
              </a:solidFill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FCDCD643-C700-45E8-8816-DD3D4AEF500E}"/>
              </a:ext>
            </a:extLst>
          </p:cNvPr>
          <p:cNvSpPr txBox="1"/>
          <p:nvPr userDrawn="1"/>
        </p:nvSpPr>
        <p:spPr>
          <a:xfrm>
            <a:off x="6722748" y="299366"/>
            <a:ext cx="963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cs-CZ" sz="1200" dirty="0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fis.vse.cz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68403B65-A3E4-4EA5-A348-D73A327280A2}"/>
              </a:ext>
            </a:extLst>
          </p:cNvPr>
          <p:cNvSpPr txBox="1"/>
          <p:nvPr userDrawn="1"/>
        </p:nvSpPr>
        <p:spPr>
          <a:xfrm>
            <a:off x="7851988" y="299366"/>
            <a:ext cx="1195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cs-CZ" sz="1200" dirty="0" err="1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fisvse</a:t>
            </a:r>
            <a:endParaRPr lang="cs-CZ" sz="1600" dirty="0">
              <a:solidFill>
                <a:srgbClr val="00988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20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5" r:id="rId3"/>
    <p:sldLayoutId id="2147483666" r:id="rId4"/>
    <p:sldLayoutId id="2147483667" r:id="rId5"/>
    <p:sldLayoutId id="2147483668" r:id="rId6"/>
    <p:sldLayoutId id="2147483672" r:id="rId7"/>
    <p:sldLayoutId id="2147483669" r:id="rId8"/>
    <p:sldLayoutId id="2147483673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rgbClr val="00988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100000"/>
        </a:lnSpc>
        <a:spcBef>
          <a:spcPts val="750"/>
        </a:spcBef>
        <a:buClr>
          <a:srgbClr val="00988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8E6E51C0-3F62-49ED-D1C2-02AA3E342CE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836229" y="750959"/>
            <a:ext cx="3718906" cy="1840132"/>
          </a:xfrm>
        </p:spPr>
        <p:txBody>
          <a:bodyPr>
            <a:normAutofit/>
          </a:bodyPr>
          <a:lstStyle/>
          <a:p>
            <a:pPr algn="l"/>
            <a:r>
              <a:rPr sz="1500" b="1" i="0" dirty="0">
                <a:solidFill>
                  <a:srgbClr val="4A4A49"/>
                </a:solidFill>
                <a:latin typeface="Arial"/>
              </a:rPr>
              <a:t>Šimon Slanský</a:t>
            </a:r>
          </a:p>
          <a:p>
            <a:pPr algn="l"/>
            <a:r>
              <a:rPr sz="1100" b="0" i="0" dirty="0" err="1">
                <a:solidFill>
                  <a:srgbClr val="4A4A49"/>
                </a:solidFill>
                <a:latin typeface="Arial"/>
              </a:rPr>
              <a:t>Vedoucí</a:t>
            </a:r>
            <a:r>
              <a:rPr sz="1100" b="0" i="0" dirty="0">
                <a:solidFill>
                  <a:srgbClr val="4A4A49"/>
                </a:solidFill>
                <a:latin typeface="Arial"/>
              </a:rPr>
              <a:t>: prof. </a:t>
            </a:r>
            <a:r>
              <a:rPr sz="1100" b="0" i="0" dirty="0" err="1">
                <a:solidFill>
                  <a:srgbClr val="4A4A49"/>
                </a:solidFill>
                <a:latin typeface="Arial"/>
              </a:rPr>
              <a:t>RNDr</a:t>
            </a:r>
            <a:r>
              <a:rPr sz="1100" b="0" i="0" dirty="0">
                <a:solidFill>
                  <a:srgbClr val="4A4A49"/>
                </a:solidFill>
                <a:latin typeface="Arial"/>
              </a:rPr>
              <a:t>. Ing. Michal Černý, Ph.D.</a:t>
            </a:r>
            <a:endParaRPr lang="en-US" sz="1100" b="0" i="0" dirty="0">
              <a:solidFill>
                <a:srgbClr val="4A4A49"/>
              </a:solidFill>
              <a:latin typeface="Arial"/>
            </a:endParaRPr>
          </a:p>
          <a:p>
            <a:pPr algn="l"/>
            <a:r>
              <a:rPr lang="cs-CZ" sz="1100" b="0" dirty="0">
                <a:solidFill>
                  <a:srgbClr val="4A4A49"/>
                </a:solidFill>
                <a:latin typeface="Arial"/>
              </a:rPr>
              <a:t>VŠE · Fakulta informatiky a statistiky</a:t>
            </a:r>
          </a:p>
          <a:p>
            <a:pPr algn="l"/>
            <a:endParaRPr lang="cs-CZ" sz="1100" b="0" dirty="0">
              <a:solidFill>
                <a:srgbClr val="4A4A49"/>
              </a:solidFill>
              <a:latin typeface="Arial"/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3A84AAC0-8AE6-1230-6A08-C592E9029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591" y="2591091"/>
            <a:ext cx="7886701" cy="1782150"/>
          </a:xfrm>
        </p:spPr>
        <p:txBody>
          <a:bodyPr>
            <a:normAutofit/>
          </a:bodyPr>
          <a:lstStyle/>
          <a:p>
            <a:r>
              <a:rPr sz="3200" b="1" dirty="0" err="1">
                <a:latin typeface="Arial"/>
              </a:rPr>
              <a:t>Dekompozice</a:t>
            </a:r>
            <a:r>
              <a:rPr sz="3200" b="1" dirty="0">
                <a:latin typeface="Arial"/>
              </a:rPr>
              <a:t> </a:t>
            </a:r>
            <a:r>
              <a:rPr sz="3200" b="1" dirty="0" err="1">
                <a:latin typeface="Arial"/>
              </a:rPr>
              <a:t>jazyka</a:t>
            </a:r>
            <a:r>
              <a:rPr sz="3200" b="1" dirty="0">
                <a:latin typeface="Arial"/>
              </a:rPr>
              <a:t> </a:t>
            </a:r>
            <a:r>
              <a:rPr sz="3200" b="1" dirty="0" err="1">
                <a:latin typeface="Arial"/>
              </a:rPr>
              <a:t>rizikových</a:t>
            </a:r>
            <a:r>
              <a:rPr sz="3200" b="1" dirty="0">
                <a:latin typeface="Arial"/>
              </a:rPr>
              <a:t> </a:t>
            </a:r>
            <a:r>
              <a:rPr sz="3200" b="1" dirty="0" err="1">
                <a:latin typeface="Arial"/>
              </a:rPr>
              <a:t>faktorů</a:t>
            </a:r>
            <a:r>
              <a:rPr sz="3200" b="1" dirty="0">
                <a:latin typeface="Arial"/>
              </a:rPr>
              <a:t>
v 10-K </a:t>
            </a:r>
            <a:r>
              <a:rPr sz="3200" b="1" dirty="0" err="1">
                <a:latin typeface="Arial"/>
              </a:rPr>
              <a:t>výkazech</a:t>
            </a:r>
            <a:r>
              <a:rPr sz="3200" b="1" dirty="0">
                <a:latin typeface="Arial"/>
              </a:rPr>
              <a:t> a </a:t>
            </a:r>
            <a:r>
              <a:rPr sz="3200" b="1" dirty="0" err="1">
                <a:latin typeface="Arial"/>
              </a:rPr>
              <a:t>následná</a:t>
            </a:r>
            <a:r>
              <a:rPr sz="3200" b="1" dirty="0">
                <a:latin typeface="Arial"/>
              </a:rPr>
              <a:t>
</a:t>
            </a:r>
            <a:r>
              <a:rPr sz="3200" b="1" dirty="0" err="1">
                <a:latin typeface="Arial"/>
              </a:rPr>
              <a:t>volatilita</a:t>
            </a:r>
            <a:r>
              <a:rPr sz="3200" b="1" dirty="0">
                <a:latin typeface="Arial"/>
              </a:rPr>
              <a:t> </a:t>
            </a:r>
            <a:r>
              <a:rPr sz="3200" b="1" dirty="0" err="1">
                <a:latin typeface="Arial"/>
              </a:rPr>
              <a:t>akciových</a:t>
            </a:r>
            <a:r>
              <a:rPr sz="3200" b="1" dirty="0">
                <a:latin typeface="Arial"/>
              </a:rPr>
              <a:t> </a:t>
            </a:r>
            <a:r>
              <a:rPr sz="3200" b="1" dirty="0" err="1">
                <a:latin typeface="Arial"/>
              </a:rPr>
              <a:t>výnosů</a:t>
            </a:r>
            <a:endParaRPr sz="3200" b="1" dirty="0">
              <a:latin typeface="Arial"/>
            </a:endParaRPr>
          </a:p>
        </p:txBody>
      </p:sp>
      <p:sp>
        <p:nvSpPr>
          <p:cNvPr id="12" name="Subtitle 4">
            <a:extLst>
              <a:ext uri="{FF2B5EF4-FFF2-40B4-BE49-F238E27FC236}">
                <a16:creationId xmlns:a16="http://schemas.microsoft.com/office/drawing/2014/main" id="{1535CC53-71F0-075A-0481-477C923B1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</p:spPr>
        <p:txBody>
          <a:bodyPr/>
          <a:lstStyle/>
          <a:p>
            <a:r>
              <a:rPr lang="en-US" dirty="0" err="1"/>
              <a:t>B</a:t>
            </a:r>
            <a:r>
              <a:rPr dirty="0" err="1"/>
              <a:t>akalářský</a:t>
            </a:r>
            <a:r>
              <a:rPr dirty="0"/>
              <a:t> </a:t>
            </a:r>
            <a:r>
              <a:rPr dirty="0" err="1"/>
              <a:t>seminář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 dirty="0" err="1">
                <a:solidFill>
                  <a:srgbClr val="4A4A49"/>
                </a:solidFill>
                <a:latin typeface="Arial"/>
              </a:rPr>
              <a:t>Motivace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</a:t>
            </a:r>
            <a:r>
              <a:rPr lang="en-US" sz="2200" b="1" dirty="0">
                <a:solidFill>
                  <a:srgbClr val="4A4A49"/>
                </a:solidFill>
                <a:latin typeface="Arial"/>
              </a:rPr>
              <a:t>a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dvě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protichůdné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literatury</a:t>
            </a:r>
            <a:endParaRPr sz="2200" b="1" dirty="0">
              <a:solidFill>
                <a:srgbClr val="4A4A49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2103608"/>
            <a:ext cx="81000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4A4A49"/>
                </a:solidFill>
                <a:latin typeface="Arial"/>
              </a:rPr>
              <a:t>Item 1A (Risk Factors)</a:t>
            </a:r>
            <a:r>
              <a:rPr lang="en-US" sz="1300" b="0" i="0" dirty="0">
                <a:solidFill>
                  <a:srgbClr val="4A4A49"/>
                </a:solidFill>
                <a:latin typeface="Arial"/>
              </a:rPr>
              <a:t> je </a:t>
            </a:r>
            <a:r>
              <a:rPr lang="cs-CZ" sz="1300" dirty="0">
                <a:solidFill>
                  <a:srgbClr val="4A4A49"/>
                </a:solidFill>
                <a:latin typeface="Arial"/>
              </a:rPr>
              <a:t>textová část</a:t>
            </a:r>
            <a:r>
              <a:rPr lang="cs-CZ" sz="1300" b="0" i="0" dirty="0">
                <a:solidFill>
                  <a:srgbClr val="4A4A49"/>
                </a:solidFill>
                <a:latin typeface="Arial"/>
              </a:rPr>
              <a:t> výročních zpráv veřejně obchodovatelných firem v USA, která</a:t>
            </a:r>
            <a:r>
              <a:rPr sz="1300" b="0" i="0" dirty="0">
                <a:solidFill>
                  <a:srgbClr val="4A4A49"/>
                </a:solidFill>
                <a:latin typeface="Arial"/>
              </a:rPr>
              <a:t> je </a:t>
            </a:r>
            <a:r>
              <a:rPr sz="1300" b="0" i="0" dirty="0" err="1">
                <a:solidFill>
                  <a:srgbClr val="4A4A49"/>
                </a:solidFill>
                <a:latin typeface="Arial"/>
              </a:rPr>
              <a:t>předmětem</a:t>
            </a:r>
            <a:r>
              <a:rPr sz="1300" b="0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A4A49"/>
                </a:solidFill>
                <a:latin typeface="Arial"/>
              </a:rPr>
              <a:t>dvou</a:t>
            </a:r>
            <a:r>
              <a:rPr sz="1300" b="0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A4A49"/>
                </a:solidFill>
                <a:latin typeface="Arial"/>
              </a:rPr>
              <a:t>paralelních</a:t>
            </a:r>
            <a:r>
              <a:rPr sz="1300" b="0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A4A49"/>
                </a:solidFill>
                <a:latin typeface="Arial"/>
              </a:rPr>
              <a:t>literatur</a:t>
            </a:r>
            <a:r>
              <a:rPr sz="1300" b="0" i="0" dirty="0">
                <a:solidFill>
                  <a:srgbClr val="4A4A49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4A4A49"/>
                </a:solidFill>
                <a:latin typeface="Arial"/>
              </a:rPr>
              <a:t>které</a:t>
            </a:r>
            <a:r>
              <a:rPr sz="1300" b="0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A4A49"/>
                </a:solidFill>
                <a:latin typeface="Arial"/>
              </a:rPr>
              <a:t>předpovídají</a:t>
            </a:r>
            <a:r>
              <a:rPr sz="1300" b="0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A4A49"/>
                </a:solidFill>
                <a:latin typeface="Arial"/>
              </a:rPr>
              <a:t>efekty</a:t>
            </a:r>
            <a:r>
              <a:rPr sz="1300" b="0" i="0" dirty="0">
                <a:solidFill>
                  <a:srgbClr val="4A4A49"/>
                </a:solidFill>
                <a:latin typeface="Arial"/>
              </a:rPr>
              <a:t> v </a:t>
            </a:r>
            <a:r>
              <a:rPr sz="1300" b="0" i="0" dirty="0" err="1">
                <a:solidFill>
                  <a:srgbClr val="4A4A49"/>
                </a:solidFill>
                <a:latin typeface="Arial"/>
              </a:rPr>
              <a:t>opačných</a:t>
            </a:r>
            <a:r>
              <a:rPr sz="1300" b="0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A4A49"/>
                </a:solidFill>
                <a:latin typeface="Arial"/>
              </a:rPr>
              <a:t>směrech</a:t>
            </a:r>
            <a:r>
              <a:rPr sz="1300" b="0" i="0" dirty="0">
                <a:solidFill>
                  <a:srgbClr val="4A4A49"/>
                </a:solidFill>
                <a:latin typeface="Arial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2765774"/>
            <a:ext cx="2951999" cy="14736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432000" rIns="90000" bIns="54000" rtlCol="0" anchor="t"/>
          <a:lstStyle/>
          <a:p>
            <a:pPr algn="ctr"/>
            <a:r>
              <a:rPr sz="1000" b="1" i="0">
                <a:solidFill>
                  <a:srgbClr val="009881"/>
                </a:solidFill>
                <a:latin typeface="Arial"/>
              </a:rPr>
              <a:t>VOLUME channel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4A4A49"/>
                </a:solidFill>
                <a:latin typeface="Arial"/>
              </a:rPr>
              <a:t>↑ délka Item 1A</a:t>
            </a:r>
          </a:p>
          <a:p>
            <a:pPr algn="ctr">
              <a:spcBef>
                <a:spcPts val="400"/>
              </a:spcBef>
            </a:pPr>
            <a:r>
              <a:rPr sz="1200" b="0" i="1">
                <a:solidFill>
                  <a:srgbClr val="2B2B2B"/>
                </a:solidFill>
                <a:latin typeface="Arial"/>
              </a:rPr>
              <a:t>→ vyšší následná volatilita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765773"/>
            <a:ext cx="2951999" cy="263152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Campbell et al. (2014)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1" y="2765774"/>
            <a:ext cx="2951999" cy="14736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432000" rIns="90000" bIns="54000" rtlCol="0" anchor="t"/>
          <a:lstStyle/>
          <a:p>
            <a:pPr algn="ctr"/>
            <a:r>
              <a:rPr sz="1000" b="1" i="0">
                <a:solidFill>
                  <a:srgbClr val="4A4A49"/>
                </a:solidFill>
                <a:latin typeface="Arial"/>
              </a:rPr>
              <a:t>SPECIFICITY channel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4A4A49"/>
                </a:solidFill>
                <a:latin typeface="Arial"/>
              </a:rPr>
              <a:t>↑ specifičnost</a:t>
            </a:r>
          </a:p>
          <a:p>
            <a:pPr algn="ctr">
              <a:spcBef>
                <a:spcPts val="400"/>
              </a:spcBef>
            </a:pPr>
            <a:r>
              <a:rPr sz="1200" b="0" i="1">
                <a:solidFill>
                  <a:srgbClr val="2B2B2B"/>
                </a:solidFill>
                <a:latin typeface="Arial"/>
              </a:rPr>
              <a:t>→ nižší následná volatilita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1" y="2765773"/>
            <a:ext cx="2951999" cy="263152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Hope et al. (2016)</a:t>
            </a:r>
          </a:p>
        </p:txBody>
      </p:sp>
      <p:sp>
        <p:nvSpPr>
          <p:cNvPr id="11" name="Oval 10"/>
          <p:cNvSpPr/>
          <p:nvPr/>
        </p:nvSpPr>
        <p:spPr>
          <a:xfrm>
            <a:off x="3744000" y="3077060"/>
            <a:ext cx="1655999" cy="969647"/>
          </a:xfrm>
          <a:prstGeom prst="ellipse">
            <a:avLst/>
          </a:prstGeom>
          <a:solidFill>
            <a:srgbClr val="CCEBE6"/>
          </a:solidFill>
          <a:ln w="9525">
            <a:solidFill>
              <a:srgbClr val="0098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1400" b="1" i="1" dirty="0">
                <a:solidFill>
                  <a:srgbClr val="009881"/>
                </a:solidFill>
                <a:latin typeface="Cambria Math"/>
              </a:rPr>
              <a:t>σ </a:t>
            </a:r>
            <a:r>
              <a:rPr sz="1400" b="1" i="1" baseline="-25000" dirty="0">
                <a:solidFill>
                  <a:srgbClr val="009881"/>
                </a:solidFill>
                <a:latin typeface="Cambria Math"/>
              </a:rPr>
              <a:t>post-filing</a:t>
            </a:r>
          </a:p>
          <a:p>
            <a:pPr algn="ctr">
              <a:spcBef>
                <a:spcPts val="200"/>
              </a:spcBef>
            </a:pPr>
            <a:r>
              <a:rPr sz="1000" b="0" i="0" dirty="0">
                <a:solidFill>
                  <a:srgbClr val="4A4A49"/>
                </a:solidFill>
                <a:latin typeface="Arial"/>
              </a:rPr>
              <a:t>post-filing </a:t>
            </a:r>
            <a:r>
              <a:rPr sz="1000" b="0" i="0" dirty="0" err="1">
                <a:solidFill>
                  <a:srgbClr val="4A4A49"/>
                </a:solidFill>
                <a:latin typeface="Arial"/>
              </a:rPr>
              <a:t>volatilita</a:t>
            </a:r>
            <a:endParaRPr sz="1000" b="0" i="0" dirty="0">
              <a:solidFill>
                <a:srgbClr val="4A4A49"/>
              </a:solidFill>
              <a:latin typeface="Arial"/>
            </a:endParaRP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3383999" y="3581059"/>
            <a:ext cx="360001" cy="0"/>
          </a:xfrm>
          <a:prstGeom prst="line">
            <a:avLst/>
          </a:prstGeom>
          <a:ln w="31750">
            <a:solidFill>
              <a:srgbClr val="0098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</p:cNvCxnSpPr>
          <p:nvPr/>
        </p:nvCxnSpPr>
        <p:spPr>
          <a:xfrm flipH="1">
            <a:off x="5399999" y="3581059"/>
            <a:ext cx="360002" cy="0"/>
          </a:xfrm>
          <a:prstGeom prst="line">
            <a:avLst/>
          </a:prstGeom>
          <a:ln w="31750">
            <a:solidFill>
              <a:srgbClr val="4A4A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32000" y="4986000"/>
            <a:ext cx="64800" cy="72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6800" y="4986000"/>
            <a:ext cx="8035200" cy="720000"/>
          </a:xfrm>
          <a:prstGeom prst="rect">
            <a:avLst/>
          </a:prstGeom>
          <a:solidFill>
            <a:srgbClr val="CC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90000" bIns="54000" rtlCol="0" anchor="ctr"/>
          <a:lstStyle/>
          <a:p>
            <a:pPr algn="l"/>
            <a:r>
              <a:rPr sz="1200" b="1" i="0" dirty="0">
                <a:solidFill>
                  <a:srgbClr val="4A4A49"/>
                </a:solidFill>
                <a:latin typeface="Arial"/>
              </a:rPr>
              <a:t>Tato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práce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odděluje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OBJEM a SPECIFIČNOST v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jedné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regresi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a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doplňuje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třetí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kanál</a:t>
            </a:r>
            <a:r>
              <a:rPr lang="en-US" sz="1200" b="1" i="0" dirty="0">
                <a:solidFill>
                  <a:srgbClr val="4A4A49"/>
                </a:solidFill>
                <a:latin typeface="Arial"/>
              </a:rPr>
              <a:t>: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co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firma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vůči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peerům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VYNECHÁ.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>
                <a:solidFill>
                  <a:srgbClr val="4A4A49"/>
                </a:solidFill>
                <a:latin typeface="Arial"/>
              </a:rPr>
              <a:t>Co je Item 1A a proč na něm záleží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00600"/>
            <a:ext cx="41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A4A49"/>
                </a:solidFill>
                <a:latin typeface="Arial"/>
              </a:rPr>
              <a:t>Struktura výroční zprávy (10-K)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2260600"/>
            <a:ext cx="4140000" cy="576000"/>
          </a:xfrm>
          <a:prstGeom prst="rect">
            <a:avLst/>
          </a:prstGeom>
          <a:solidFill>
            <a:srgbClr val="F4F4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1200" i="0">
                <a:solidFill>
                  <a:srgbClr val="4A4A49"/>
                </a:solidFill>
                <a:latin typeface="Arial"/>
              </a:rPr>
              <a:t>10-K filing (celý dokument)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908600"/>
            <a:ext cx="4140000" cy="576000"/>
          </a:xfrm>
          <a:prstGeom prst="rect">
            <a:avLst/>
          </a:prstGeom>
          <a:solidFill>
            <a:srgbClr val="CCEBE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1200" b="1" i="0" dirty="0">
                <a:solidFill>
                  <a:srgbClr val="009881"/>
                </a:solidFill>
                <a:latin typeface="Arial"/>
              </a:rPr>
              <a:t>Item 1A — Risk Factors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3556600"/>
            <a:ext cx="4140000" cy="576000"/>
          </a:xfrm>
          <a:prstGeom prst="rect">
            <a:avLst/>
          </a:prstGeom>
          <a:solidFill>
            <a:srgbClr val="F4F4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1200" i="0">
                <a:solidFill>
                  <a:srgbClr val="4A4A49"/>
                </a:solidFill>
                <a:latin typeface="Arial"/>
              </a:rPr>
              <a:t>Item 7 — MD&amp;A (doplňkový text)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000" y="1900600"/>
            <a:ext cx="378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4A4A49"/>
                </a:solidFill>
                <a:latin typeface="Arial"/>
              </a:rPr>
              <a:t>Klíčové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4A4A49"/>
                </a:solidFill>
                <a:latin typeface="Arial"/>
              </a:rPr>
              <a:t>vlastnosti</a:t>
            </a:r>
            <a:r>
              <a:rPr lang="en-US" sz="1200" b="1" i="0" dirty="0">
                <a:solidFill>
                  <a:srgbClr val="4A4A49"/>
                </a:solidFill>
                <a:latin typeface="Arial"/>
              </a:rPr>
              <a:t> </a:t>
            </a:r>
            <a:r>
              <a:rPr lang="cs-CZ" sz="1200" b="1" i="0" dirty="0">
                <a:solidFill>
                  <a:srgbClr val="4A4A49"/>
                </a:solidFill>
                <a:latin typeface="Arial"/>
              </a:rPr>
              <a:t>části výroční zprávy</a:t>
            </a:r>
            <a:r>
              <a:rPr sz="1200" b="1" i="0" dirty="0">
                <a:solidFill>
                  <a:srgbClr val="4A4A49"/>
                </a:solidFill>
                <a:latin typeface="Arial"/>
              </a:rPr>
              <a:t> Item 1A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000" y="2260600"/>
            <a:ext cx="3780000" cy="179170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dirty="0">
                <a:solidFill>
                  <a:srgbClr val="009881"/>
                </a:solidFill>
                <a:latin typeface="Arial"/>
              </a:rPr>
              <a:t>▪ 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Povinná</a:t>
            </a:r>
            <a:r>
              <a:rPr sz="1200" dirty="0">
                <a:solidFill>
                  <a:srgbClr val="2B2B2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sekce</a:t>
            </a:r>
            <a:r>
              <a:rPr sz="1200" dirty="0">
                <a:solidFill>
                  <a:srgbClr val="2B2B2B"/>
                </a:solidFill>
                <a:latin typeface="Arial"/>
              </a:rPr>
              <a:t> od 2005 (SEC Regulation S-K)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dirty="0">
                <a:solidFill>
                  <a:srgbClr val="009881"/>
                </a:solidFill>
                <a:latin typeface="Arial"/>
              </a:rPr>
              <a:t>▪ 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Popisuje</a:t>
            </a:r>
            <a:r>
              <a:rPr sz="1200" dirty="0">
                <a:solidFill>
                  <a:srgbClr val="2B2B2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materiální</a:t>
            </a:r>
            <a:r>
              <a:rPr sz="1200" dirty="0">
                <a:solidFill>
                  <a:srgbClr val="2B2B2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rizika</a:t>
            </a:r>
            <a:r>
              <a:rPr sz="1200" dirty="0">
                <a:solidFill>
                  <a:srgbClr val="2B2B2B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jimž</a:t>
            </a:r>
            <a:r>
              <a:rPr sz="1200" dirty="0">
                <a:solidFill>
                  <a:srgbClr val="2B2B2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firma</a:t>
            </a:r>
            <a:r>
              <a:rPr sz="1200" dirty="0">
                <a:solidFill>
                  <a:srgbClr val="2B2B2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čelí</a:t>
            </a:r>
            <a:endParaRPr sz="1200" dirty="0">
              <a:solidFill>
                <a:srgbClr val="2B2B2B"/>
              </a:solidFill>
              <a:latin typeface="Arial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dirty="0">
                <a:solidFill>
                  <a:srgbClr val="009881"/>
                </a:solidFill>
                <a:latin typeface="Arial"/>
              </a:rPr>
              <a:t>▪ 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Medián</a:t>
            </a:r>
            <a:r>
              <a:rPr sz="1200" dirty="0">
                <a:solidFill>
                  <a:srgbClr val="2B2B2B"/>
                </a:solidFill>
                <a:latin typeface="Arial"/>
              </a:rPr>
              <a:t> ~8 800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slov</a:t>
            </a:r>
            <a:r>
              <a:rPr sz="1200" dirty="0">
                <a:solidFill>
                  <a:srgbClr val="2B2B2B"/>
                </a:solidFill>
                <a:latin typeface="Arial"/>
              </a:rPr>
              <a:t>;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rozsah</a:t>
            </a:r>
            <a:r>
              <a:rPr sz="1200" dirty="0">
                <a:solidFill>
                  <a:srgbClr val="2B2B2B"/>
                </a:solidFill>
                <a:latin typeface="Arial"/>
              </a:rPr>
              <a:t> 2 000–40 000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dirty="0">
                <a:solidFill>
                  <a:srgbClr val="009881"/>
                </a:solidFill>
                <a:latin typeface="Arial"/>
              </a:rPr>
              <a:t>▪ 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Firma</a:t>
            </a:r>
            <a:r>
              <a:rPr sz="1200" dirty="0">
                <a:solidFill>
                  <a:srgbClr val="2B2B2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volí</a:t>
            </a:r>
            <a:r>
              <a:rPr sz="1200" dirty="0">
                <a:solidFill>
                  <a:srgbClr val="2B2B2B"/>
                </a:solidFill>
                <a:latin typeface="Arial"/>
              </a:rPr>
              <a:t>, </a:t>
            </a:r>
            <a:r>
              <a:rPr lang="cs-CZ" sz="1200" dirty="0">
                <a:solidFill>
                  <a:srgbClr val="2B2B2B"/>
                </a:solidFill>
                <a:latin typeface="Arial"/>
              </a:rPr>
              <a:t>co</a:t>
            </a:r>
            <a:r>
              <a:rPr sz="1200" dirty="0">
                <a:solidFill>
                  <a:srgbClr val="2B2B2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uvede</a:t>
            </a:r>
            <a:r>
              <a:rPr sz="1200" dirty="0">
                <a:solidFill>
                  <a:srgbClr val="2B2B2B"/>
                </a:solidFill>
                <a:latin typeface="Arial"/>
              </a:rPr>
              <a:t> a v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jakém</a:t>
            </a:r>
            <a:r>
              <a:rPr sz="1200" dirty="0">
                <a:solidFill>
                  <a:srgbClr val="2B2B2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rozsahu</a:t>
            </a:r>
            <a:endParaRPr sz="1200" dirty="0">
              <a:solidFill>
                <a:srgbClr val="2B2B2B"/>
              </a:solidFill>
              <a:latin typeface="Arial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dirty="0">
                <a:solidFill>
                  <a:srgbClr val="009881"/>
                </a:solidFill>
                <a:latin typeface="Arial"/>
              </a:rPr>
              <a:t>▪ 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Právní</a:t>
            </a:r>
            <a:r>
              <a:rPr sz="1200" dirty="0">
                <a:solidFill>
                  <a:srgbClr val="2B2B2B"/>
                </a:solidFill>
                <a:latin typeface="Arial"/>
              </a:rPr>
              <a:t> safe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harbour</a:t>
            </a:r>
            <a:r>
              <a:rPr sz="1200" dirty="0">
                <a:solidFill>
                  <a:srgbClr val="2B2B2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2B2B2B"/>
                </a:solidFill>
                <a:latin typeface="Arial"/>
              </a:rPr>
              <a:t>motivuje</a:t>
            </a:r>
            <a:r>
              <a:rPr sz="1200" dirty="0">
                <a:solidFill>
                  <a:srgbClr val="2B2B2B"/>
                </a:solidFill>
                <a:latin typeface="Arial"/>
              </a:rPr>
              <a:t> boilerplate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dirty="0">
                <a:solidFill>
                  <a:srgbClr val="009881"/>
                </a:solidFill>
                <a:latin typeface="Arial"/>
              </a:rPr>
              <a:t>    </a:t>
            </a:r>
            <a:r>
              <a:rPr sz="1100" dirty="0">
                <a:solidFill>
                  <a:srgbClr val="2B2B2B"/>
                </a:solidFill>
                <a:latin typeface="Arial"/>
              </a:rPr>
              <a:t>→ </a:t>
            </a:r>
            <a:r>
              <a:rPr sz="1100" dirty="0" err="1">
                <a:solidFill>
                  <a:srgbClr val="2B2B2B"/>
                </a:solidFill>
                <a:latin typeface="Arial"/>
              </a:rPr>
              <a:t>právníci</a:t>
            </a:r>
            <a:r>
              <a:rPr sz="110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2B2B2B"/>
                </a:solidFill>
                <a:latin typeface="Arial"/>
              </a:rPr>
              <a:t>přidávají</a:t>
            </a:r>
            <a:r>
              <a:rPr sz="110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2B2B2B"/>
                </a:solidFill>
                <a:latin typeface="Arial"/>
              </a:rPr>
              <a:t>standardní</a:t>
            </a:r>
            <a:r>
              <a:rPr sz="110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2B2B2B"/>
                </a:solidFill>
                <a:latin typeface="Arial"/>
              </a:rPr>
              <a:t>formulace</a:t>
            </a:r>
            <a:endParaRPr sz="1100" dirty="0">
              <a:solidFill>
                <a:srgbClr val="2B2B2B"/>
              </a:solidFill>
              <a:latin typeface="Arial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dirty="0">
                <a:solidFill>
                  <a:srgbClr val="009881"/>
                </a:solidFill>
                <a:latin typeface="Arial"/>
              </a:rPr>
              <a:t>   </a:t>
            </a:r>
            <a:r>
              <a:rPr lang="en-US" sz="1200" b="1" dirty="0">
                <a:solidFill>
                  <a:srgbClr val="009881"/>
                </a:solidFill>
                <a:latin typeface="Arial"/>
              </a:rPr>
              <a:t> </a:t>
            </a:r>
            <a:r>
              <a:rPr sz="1100" dirty="0">
                <a:solidFill>
                  <a:srgbClr val="2B2B2B"/>
                </a:solidFill>
                <a:latin typeface="Arial"/>
              </a:rPr>
              <a:t>→ firm-specific </a:t>
            </a:r>
            <a:r>
              <a:rPr sz="1100" dirty="0" err="1">
                <a:solidFill>
                  <a:srgbClr val="2B2B2B"/>
                </a:solidFill>
                <a:latin typeface="Arial"/>
              </a:rPr>
              <a:t>obsah</a:t>
            </a:r>
            <a:r>
              <a:rPr sz="1100" dirty="0">
                <a:solidFill>
                  <a:srgbClr val="2B2B2B"/>
                </a:solidFill>
                <a:latin typeface="Arial"/>
              </a:rPr>
              <a:t> se </a:t>
            </a:r>
            <a:r>
              <a:rPr sz="1100" dirty="0" err="1">
                <a:solidFill>
                  <a:srgbClr val="2B2B2B"/>
                </a:solidFill>
                <a:latin typeface="Arial"/>
              </a:rPr>
              <a:t>zředí</a:t>
            </a:r>
            <a:endParaRPr sz="1100" dirty="0">
              <a:solidFill>
                <a:srgbClr val="2B2B2B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2000" y="5068600"/>
            <a:ext cx="64800" cy="576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6800" y="5068600"/>
            <a:ext cx="8035200" cy="576000"/>
          </a:xfrm>
          <a:prstGeom prst="rect">
            <a:avLst/>
          </a:prstGeom>
          <a:solidFill>
            <a:srgbClr val="CC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90000" bIns="54000" rtlCol="0" anchor="ctr"/>
          <a:lstStyle/>
          <a:p>
            <a:pPr algn="l"/>
            <a:r>
              <a:rPr sz="1200" b="1" i="0">
                <a:solidFill>
                  <a:srgbClr val="4A4A49"/>
                </a:solidFill>
                <a:latin typeface="Arial"/>
              </a:rPr>
              <a:t>Otázka: nese délka, slovník, nebo to, co firma VYNECHÁ, informaci o budoucí volatilitě?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>
                <a:solidFill>
                  <a:srgbClr val="4A4A49"/>
                </a:solidFill>
                <a:latin typeface="Arial"/>
              </a:rPr>
              <a:t>Hypotézy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2014246"/>
            <a:ext cx="2592000" cy="21999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540000" rIns="180000" bIns="54000" rtlCol="0" anchor="t"/>
          <a:lstStyle/>
          <a:p>
            <a:pPr algn="ctr"/>
            <a:r>
              <a:rPr sz="1100" b="1" i="0">
                <a:solidFill>
                  <a:srgbClr val="009881"/>
                </a:solidFill>
                <a:latin typeface="Arial"/>
              </a:rPr>
              <a:t>OBJEM</a:t>
            </a:r>
          </a:p>
          <a:p>
            <a:pPr algn="ctr">
              <a:spcBef>
                <a:spcPts val="400"/>
              </a:spcBef>
            </a:pPr>
            <a:r>
              <a:rPr sz="4000" b="1" i="0">
                <a:solidFill>
                  <a:srgbClr val="4A4A49"/>
                </a:solidFill>
                <a:latin typeface="Arial"/>
              </a:rPr>
              <a:t>↑</a:t>
            </a:r>
          </a:p>
          <a:p>
            <a:pPr algn="ctr">
              <a:spcBef>
                <a:spcPts val="6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Delší Item 1A → vyšší následná volatilita.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2014246"/>
            <a:ext cx="2592000" cy="293326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H1</a:t>
            </a:r>
          </a:p>
        </p:txBody>
      </p:sp>
      <p:sp>
        <p:nvSpPr>
          <p:cNvPr id="8" name="Rectangle 7"/>
          <p:cNvSpPr/>
          <p:nvPr/>
        </p:nvSpPr>
        <p:spPr>
          <a:xfrm>
            <a:off x="3168000" y="2014246"/>
            <a:ext cx="2592000" cy="21999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540000" rIns="180000" bIns="54000" rtlCol="0" anchor="t"/>
          <a:lstStyle/>
          <a:p>
            <a:pPr algn="ctr"/>
            <a:r>
              <a:rPr sz="1100" b="1" i="0">
                <a:solidFill>
                  <a:srgbClr val="009881"/>
                </a:solidFill>
                <a:latin typeface="Arial"/>
              </a:rPr>
              <a:t>SPECIFIČNOST</a:t>
            </a:r>
          </a:p>
          <a:p>
            <a:pPr algn="ctr">
              <a:spcBef>
                <a:spcPts val="400"/>
              </a:spcBef>
            </a:pPr>
            <a:r>
              <a:rPr sz="4000" b="1" i="0">
                <a:solidFill>
                  <a:srgbClr val="4A4A49"/>
                </a:solidFill>
                <a:latin typeface="Arial"/>
              </a:rPr>
              <a:t>↓</a:t>
            </a:r>
          </a:p>
          <a:p>
            <a:pPr algn="ctr">
              <a:spcBef>
                <a:spcPts val="6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Vyšší hustota rizikových slov při kontrole délky → nižší volatilita.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68000" y="2014246"/>
            <a:ext cx="2592000" cy="293326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04000" y="2014246"/>
            <a:ext cx="2592000" cy="21999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540000" rIns="180000" bIns="54000" rtlCol="0" anchor="t"/>
          <a:lstStyle/>
          <a:p>
            <a:pPr algn="ctr"/>
            <a:r>
              <a:rPr sz="1100" b="1" i="0">
                <a:solidFill>
                  <a:srgbClr val="009881"/>
                </a:solidFill>
                <a:latin typeface="Arial"/>
              </a:rPr>
              <a:t>MLČENÍ</a:t>
            </a:r>
          </a:p>
          <a:p>
            <a:pPr algn="ctr">
              <a:spcBef>
                <a:spcPts val="400"/>
              </a:spcBef>
            </a:pPr>
            <a:r>
              <a:rPr sz="4000" b="1" i="0">
                <a:solidFill>
                  <a:srgbClr val="4A4A49"/>
                </a:solidFill>
                <a:latin typeface="Arial"/>
              </a:rPr>
              <a:t>↑</a:t>
            </a:r>
          </a:p>
          <a:p>
            <a:pPr algn="ctr">
              <a:spcBef>
                <a:spcPts val="600"/>
              </a:spcBef>
            </a:pPr>
            <a:r>
              <a:rPr sz="1200" b="0" i="0">
                <a:solidFill>
                  <a:srgbClr val="2B2B2B"/>
                </a:solidFill>
                <a:latin typeface="Arial"/>
              </a:rPr>
              <a:t>Větší peer-relativní opomenutí témat → vyšší volatilita.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04000" y="2014246"/>
            <a:ext cx="2592000" cy="293326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5112000"/>
            <a:ext cx="64800" cy="503999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6800" y="5112000"/>
            <a:ext cx="8035200" cy="503999"/>
          </a:xfrm>
          <a:prstGeom prst="rect">
            <a:avLst/>
          </a:prstGeom>
          <a:solidFill>
            <a:srgbClr val="CC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90000" bIns="54000" rtlCol="0" anchor="ctr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Druhý stupeň H2: efekt nese LM-Litigious sub-list, nikoli LM-Uncertainty.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 dirty="0">
                <a:solidFill>
                  <a:srgbClr val="4A4A49"/>
                </a:solidFill>
                <a:latin typeface="Arial"/>
              </a:rPr>
              <a:t>Dat</a:t>
            </a:r>
            <a:r>
              <a:rPr lang="cs-CZ" sz="2200" b="1" dirty="0">
                <a:solidFill>
                  <a:srgbClr val="4A4A49"/>
                </a:solidFill>
                <a:latin typeface="Arial"/>
              </a:rPr>
              <a:t>a</a:t>
            </a:r>
            <a:endParaRPr sz="2200" b="1" dirty="0">
              <a:solidFill>
                <a:srgbClr val="4A4A49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7001" y="2124001"/>
            <a:ext cx="19080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2200" b="1" i="0">
                <a:solidFill>
                  <a:srgbClr val="009881"/>
                </a:solidFill>
                <a:latin typeface="Arial"/>
              </a:rPr>
              <a:t>535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4A4A49"/>
                </a:solidFill>
                <a:latin typeface="Arial"/>
              </a:rPr>
              <a:t>firem (S&amp;P 1500, nefinanční)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1000" y="2124001"/>
            <a:ext cx="19080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2200" b="1" i="0">
                <a:solidFill>
                  <a:srgbClr val="009881"/>
                </a:solidFill>
                <a:latin typeface="Arial"/>
              </a:rPr>
              <a:t>2010–2024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4A4A49"/>
                </a:solidFill>
                <a:latin typeface="Arial"/>
              </a:rPr>
              <a:t>fiskálních let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4999" y="2124001"/>
            <a:ext cx="19080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2200" b="1" i="0">
                <a:solidFill>
                  <a:srgbClr val="009881"/>
                </a:solidFill>
                <a:latin typeface="Arial"/>
              </a:rPr>
              <a:t>~5 700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4A4A49"/>
                </a:solidFill>
                <a:latin typeface="Arial"/>
              </a:rPr>
              <a:t>firma-let (h = 30 d)</a:t>
            </a:r>
          </a:p>
        </p:txBody>
      </p:sp>
      <p:sp>
        <p:nvSpPr>
          <p:cNvPr id="9" name="Rectangle 8"/>
          <p:cNvSpPr/>
          <p:nvPr/>
        </p:nvSpPr>
        <p:spPr>
          <a:xfrm>
            <a:off x="6668998" y="2124001"/>
            <a:ext cx="19080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2200" b="1" i="0">
                <a:solidFill>
                  <a:srgbClr val="009881"/>
                </a:solidFill>
                <a:latin typeface="Arial"/>
              </a:rPr>
              <a:t>93,5 %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4A4A49"/>
                </a:solidFill>
                <a:latin typeface="Arial"/>
              </a:rPr>
              <a:t>LLM-audit přesnost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3456001"/>
            <a:ext cx="1440000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432000" rIns="72000" bIns="54000" rtlCol="0" anchor="t"/>
          <a:lstStyle/>
          <a:p>
            <a:pPr algn="ctr"/>
            <a:r>
              <a:rPr sz="1000" b="0" i="0">
                <a:solidFill>
                  <a:srgbClr val="2B2B2B"/>
                </a:solidFill>
                <a:latin typeface="Arial"/>
              </a:rPr>
              <a:t>Seznam 10-K
2010–2024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3456001"/>
            <a:ext cx="1440000" cy="396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 EDGAR
Submissions 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72000" y="3924001"/>
            <a:ext cx="270000" cy="0"/>
          </a:xfrm>
          <a:prstGeom prst="line">
            <a:avLst/>
          </a:prstGeom>
          <a:ln w="25400">
            <a:solidFill>
              <a:srgbClr val="4A4A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142000" y="3456001"/>
            <a:ext cx="1440000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432000" rIns="72000" bIns="54000" rtlCol="0" anchor="t"/>
          <a:lstStyle/>
          <a:p>
            <a:pPr algn="ctr"/>
            <a:r>
              <a:rPr sz="1000" b="0" i="0">
                <a:solidFill>
                  <a:srgbClr val="2B2B2B"/>
                </a:solidFill>
                <a:latin typeface="Arial"/>
              </a:rPr>
              <a:t>Finanční metriky
+ tag locking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2000" y="3456001"/>
            <a:ext cx="1440000" cy="396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XBRL Company
Facts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82000" y="3924001"/>
            <a:ext cx="270000" cy="0"/>
          </a:xfrm>
          <a:prstGeom prst="line">
            <a:avLst/>
          </a:prstGeom>
          <a:ln w="25400">
            <a:solidFill>
              <a:srgbClr val="4A4A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852000" y="3456001"/>
            <a:ext cx="1440000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432000" rIns="72000" bIns="54000" rtlCol="0" anchor="t"/>
          <a:lstStyle/>
          <a:p>
            <a:pPr algn="ctr"/>
            <a:r>
              <a:rPr sz="1000" b="0" i="0">
                <a:solidFill>
                  <a:srgbClr val="2B2B2B"/>
                </a:solidFill>
                <a:latin typeface="Arial"/>
              </a:rPr>
              <a:t>Texty 10-K
+ Exhibit 13 fallback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52000" y="3456001"/>
            <a:ext cx="1440000" cy="396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HTML parser
(Item 1A / 7)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92000" y="3924001"/>
            <a:ext cx="270000" cy="0"/>
          </a:xfrm>
          <a:prstGeom prst="line">
            <a:avLst/>
          </a:prstGeom>
          <a:ln w="25400">
            <a:solidFill>
              <a:srgbClr val="4A4A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562000" y="3456001"/>
            <a:ext cx="1440000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432000" rIns="72000" bIns="54000" rtlCol="0" anchor="t"/>
          <a:lstStyle/>
          <a:p>
            <a:pPr algn="ctr"/>
            <a:r>
              <a:rPr sz="1000" b="0" i="0">
                <a:solidFill>
                  <a:srgbClr val="2B2B2B"/>
                </a:solidFill>
                <a:latin typeface="Arial"/>
              </a:rPr>
              <a:t>Word counts &amp;
densities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62000" y="3456001"/>
            <a:ext cx="1440000" cy="396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LM slovník
(Unc + Lit)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02000" y="3924001"/>
            <a:ext cx="270000" cy="0"/>
          </a:xfrm>
          <a:prstGeom prst="line">
            <a:avLst/>
          </a:prstGeom>
          <a:ln w="25400">
            <a:solidFill>
              <a:srgbClr val="4A4A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72000" y="3456001"/>
            <a:ext cx="1440000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432000" rIns="72000" bIns="54000" rtlCol="0" anchor="t"/>
          <a:lstStyle/>
          <a:p>
            <a:pPr algn="ctr"/>
            <a:r>
              <a:rPr sz="1000" b="0" i="0">
                <a:solidFill>
                  <a:srgbClr val="2B2B2B"/>
                </a:solidFill>
                <a:latin typeface="Arial"/>
              </a:rPr>
              <a:t>ln σᵢ,ₜ₊₁ᴴ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72000" y="3456001"/>
            <a:ext cx="1440000" cy="396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yfinance +
post-filing okna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72000" y="4752001"/>
            <a:ext cx="3600000" cy="503999"/>
          </a:xfrm>
          <a:prstGeom prst="rect">
            <a:avLst/>
          </a:prstGeom>
          <a:solidFill>
            <a:srgbClr val="CCEBE6"/>
          </a:solidFill>
          <a:ln w="9525">
            <a:solidFill>
              <a:srgbClr val="0098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1200" b="1" i="0">
                <a:solidFill>
                  <a:srgbClr val="4A4A49"/>
                </a:solidFill>
                <a:latin typeface="Arial"/>
              </a:rPr>
              <a:t>Panel:  535 firem × 15 let × textové + finanční proměnné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0" y="4392001"/>
            <a:ext cx="0" cy="360000"/>
          </a:xfrm>
          <a:prstGeom prst="line">
            <a:avLst/>
          </a:prstGeom>
          <a:ln w="25400">
            <a:solidFill>
              <a:srgbClr val="4A4A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 dirty="0" err="1">
                <a:solidFill>
                  <a:srgbClr val="4A4A49"/>
                </a:solidFill>
                <a:latin typeface="Arial"/>
              </a:rPr>
              <a:t>Kvalita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dat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</a:t>
            </a:r>
            <a:r>
              <a:rPr lang="cs-CZ" sz="2200" b="1" dirty="0">
                <a:solidFill>
                  <a:srgbClr val="4A4A49"/>
                </a:solidFill>
                <a:latin typeface="Arial"/>
              </a:rPr>
              <a:t>a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XBRL tag locking a LLM 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6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2096010"/>
            <a:ext cx="3960000" cy="266597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68000" rIns="108000" bIns="54000" rtlCol="0" anchor="t"/>
          <a:lstStyle/>
          <a:p>
            <a:pPr algn="l"/>
            <a:r>
              <a:rPr sz="1100" b="1" i="0" dirty="0" err="1">
                <a:solidFill>
                  <a:srgbClr val="4A4A49"/>
                </a:solidFill>
                <a:latin typeface="Arial"/>
              </a:rPr>
              <a:t>Problém</a:t>
            </a:r>
            <a:r>
              <a:rPr sz="1100" b="1" i="0" dirty="0">
                <a:solidFill>
                  <a:srgbClr val="4A4A49"/>
                </a:solidFill>
                <a:latin typeface="Arial"/>
              </a:rPr>
              <a:t>:</a:t>
            </a:r>
          </a:p>
          <a:p>
            <a:pPr algn="l">
              <a:spcBef>
                <a:spcPts val="300"/>
              </a:spcBef>
            </a:pPr>
            <a:r>
              <a:rPr sz="1100" b="0" i="0" dirty="0">
                <a:solidFill>
                  <a:srgbClr val="2B2B2B"/>
                </a:solidFill>
                <a:latin typeface="Arial"/>
              </a:rPr>
              <a:t>Jeden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koncept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(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např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.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provozní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C</a:t>
            </a:r>
            <a:r>
              <a:rPr lang="cs-CZ" sz="1100" b="0" i="0" dirty="0" err="1">
                <a:solidFill>
                  <a:srgbClr val="2B2B2B"/>
                </a:solidFill>
                <a:latin typeface="Arial"/>
              </a:rPr>
              <a:t>ash</a:t>
            </a:r>
            <a:r>
              <a:rPr lang="cs-CZ"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F</a:t>
            </a:r>
            <a:r>
              <a:rPr lang="cs-CZ" sz="1100" b="0" i="0" dirty="0" err="1">
                <a:solidFill>
                  <a:srgbClr val="2B2B2B"/>
                </a:solidFill>
                <a:latin typeface="Arial"/>
              </a:rPr>
              <a:t>low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)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může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být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v XBRL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reportován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pod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různými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tagy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v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různých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letech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>
              <a:spcBef>
                <a:spcPts val="600"/>
              </a:spcBef>
            </a:pPr>
            <a:r>
              <a:rPr sz="1100" b="1" i="0" dirty="0" err="1">
                <a:solidFill>
                  <a:srgbClr val="4A4A49"/>
                </a:solidFill>
                <a:latin typeface="Arial"/>
              </a:rPr>
              <a:t>Řešení</a:t>
            </a:r>
            <a:r>
              <a:rPr sz="1100" b="1" i="0" dirty="0">
                <a:solidFill>
                  <a:srgbClr val="4A4A49"/>
                </a:solidFill>
                <a:latin typeface="Arial"/>
              </a:rPr>
              <a:t>:</a:t>
            </a:r>
          </a:p>
          <a:p>
            <a:pPr algn="l">
              <a:spcBef>
                <a:spcPts val="300"/>
              </a:spcBef>
            </a:pPr>
            <a:r>
              <a:rPr sz="1100" b="0" i="0" dirty="0">
                <a:solidFill>
                  <a:srgbClr val="2B2B2B"/>
                </a:solidFill>
                <a:latin typeface="Arial"/>
              </a:rPr>
              <a:t>1. Equivalence groups —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tagy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se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stejným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ekonomickým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významem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sloučíme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(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např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.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NetCashProvided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… vs. …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ContinuingOperations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).</a:t>
            </a:r>
          </a:p>
          <a:p>
            <a:pPr algn="l">
              <a:spcBef>
                <a:spcPts val="300"/>
              </a:spcBef>
            </a:pPr>
            <a:r>
              <a:rPr sz="1100" b="0" i="0" dirty="0">
                <a:solidFill>
                  <a:srgbClr val="2B2B2B"/>
                </a:solidFill>
                <a:latin typeface="Arial"/>
              </a:rPr>
              <a:t>2. Per-firm tag locking —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každou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firmu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zamkneme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na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tag,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který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používá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nejčastěji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;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ostatní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= missing.</a:t>
            </a:r>
          </a:p>
          <a:p>
            <a:pPr algn="l">
              <a:spcBef>
                <a:spcPts val="600"/>
              </a:spcBef>
            </a:pPr>
            <a:r>
              <a:rPr sz="1100" b="1" i="0" dirty="0" err="1">
                <a:solidFill>
                  <a:srgbClr val="009881"/>
                </a:solidFill>
                <a:latin typeface="Arial"/>
              </a:rPr>
              <a:t>Výsledek</a:t>
            </a:r>
            <a:r>
              <a:rPr sz="1100" b="1" i="0" dirty="0">
                <a:solidFill>
                  <a:srgbClr val="009881"/>
                </a:solidFill>
                <a:latin typeface="Arial"/>
              </a:rPr>
              <a:t>: </a:t>
            </a:r>
            <a:r>
              <a:rPr sz="1100" b="1" i="0" dirty="0" err="1">
                <a:solidFill>
                  <a:srgbClr val="009881"/>
                </a:solidFill>
                <a:latin typeface="Arial"/>
              </a:rPr>
              <a:t>kompletnost</a:t>
            </a:r>
            <a:r>
              <a:rPr sz="1100" b="1" i="0" dirty="0">
                <a:solidFill>
                  <a:srgbClr val="009881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009881"/>
                </a:solidFill>
                <a:latin typeface="Arial"/>
              </a:rPr>
              <a:t>dat</a:t>
            </a:r>
            <a:r>
              <a:rPr sz="1100" b="1" i="0" dirty="0">
                <a:solidFill>
                  <a:srgbClr val="009881"/>
                </a:solidFill>
                <a:latin typeface="Arial"/>
              </a:rPr>
              <a:t> 78,9 % → 92,7 %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2096010"/>
            <a:ext cx="3960000" cy="266598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XBRL tag locking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096010"/>
            <a:ext cx="3960000" cy="266597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68000" rIns="108000" bIns="54000" rtlCol="0" anchor="t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Cíl: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Ověřit, že HTML parser extrahuje správnou sekci (Item 1A / Item 7) a ne TOC, přílohu či jinou část.</a:t>
            </a:r>
          </a:p>
          <a:p>
            <a:pPr algn="l">
              <a:spcBef>
                <a:spcPts val="600"/>
              </a:spcBef>
            </a:pPr>
            <a:r>
              <a:rPr sz="1100" b="1" i="0">
                <a:solidFill>
                  <a:srgbClr val="4A4A49"/>
                </a:solidFill>
                <a:latin typeface="Arial"/>
              </a:rPr>
              <a:t>Metoda: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Gemini 2.5 Flash klasifikuje 200 náhodných extrakcí (stratifikovaně 2010–2024) na 5 kritérií: identita sekce, start/end hranice, kvalita, úplnost.</a:t>
            </a:r>
          </a:p>
          <a:p>
            <a:pPr algn="l">
              <a:spcBef>
                <a:spcPts val="600"/>
              </a:spcBef>
            </a:pPr>
            <a:r>
              <a:rPr sz="1100" b="1" i="0">
                <a:solidFill>
                  <a:srgbClr val="009881"/>
                </a:solidFill>
                <a:latin typeface="Arial"/>
              </a:rPr>
              <a:t>Výsledek: 93,5 % Pass + Minor</a:t>
            </a:r>
          </a:p>
          <a:p>
            <a:pPr algn="l">
              <a:spcBef>
                <a:spcPts val="300"/>
              </a:spcBef>
            </a:pPr>
            <a:r>
              <a:rPr sz="1000" b="0" i="1">
                <a:solidFill>
                  <a:srgbClr val="4A4A49"/>
                </a:solidFill>
                <a:latin typeface="Arial"/>
              </a:rPr>
              <a:t>Selhání koncentrována v 2010–2012 (nestandardní HTML).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096010"/>
            <a:ext cx="3960000" cy="266598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LLM-assisted quality audit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5472000"/>
            <a:ext cx="64800" cy="468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6800" y="5472000"/>
            <a:ext cx="8035200" cy="468000"/>
          </a:xfrm>
          <a:prstGeom prst="rect">
            <a:avLst/>
          </a:prstGeom>
          <a:solidFill>
            <a:srgbClr val="CC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90000" bIns="54000" rtlCol="0" anchor="ctr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Wilson 95% CI: 89,2–96,2 %. Přístup validace LLM podpořen v Gilardi et al. (2023).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lang="cs-CZ" sz="2200" b="1" dirty="0">
                <a:solidFill>
                  <a:srgbClr val="4A4A49"/>
                </a:solidFill>
                <a:latin typeface="Arial"/>
              </a:rPr>
              <a:t>C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o 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měří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Litigious a Uncertainty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98001"/>
            <a:ext cx="81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A4A49"/>
                </a:solidFill>
                <a:latin typeface="Arial"/>
              </a:rPr>
              <a:t>Loughran &amp; McDonald (2011) — standardní finanční sentiment slovník. Používáme dvě sub-kategorie relevantní pro rizikový jazyk: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2466001"/>
            <a:ext cx="3960000" cy="20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68000" rIns="108000" bIns="54000" rtlCol="0" anchor="t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Právně specifické výrazy:</a:t>
            </a:r>
          </a:p>
          <a:p>
            <a:pPr algn="l">
              <a:spcBef>
                <a:spcPts val="300"/>
              </a:spcBef>
            </a:pPr>
            <a:r>
              <a:rPr sz="1100" b="0" i="1">
                <a:solidFill>
                  <a:srgbClr val="2B2B2B"/>
                </a:solidFill>
                <a:latin typeface="Arial"/>
              </a:rPr>
              <a:t>"litigation", "indemnify", "breach",
"enforcement", "claimant", "arbitration"…</a:t>
            </a:r>
          </a:p>
          <a:p>
            <a:pPr algn="l">
              <a:spcBef>
                <a:spcPts val="600"/>
              </a:spcBef>
            </a:pPr>
            <a:r>
              <a:rPr sz="1100" b="1" i="0">
                <a:solidFill>
                  <a:srgbClr val="4A4A49"/>
                </a:solidFill>
                <a:latin typeface="Arial"/>
              </a:rPr>
              <a:t>Interpretace: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Standardizovaný safe-harbour boilerplate — právníci přidávají jako ochranu před žalobami. Signál: nízká firm-specificity.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466001"/>
            <a:ext cx="3960000" cy="36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LM-Litigious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466001"/>
            <a:ext cx="3960000" cy="20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68000" rIns="108000" bIns="54000" rtlCol="0" anchor="t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Modální/hedgingová slova:</a:t>
            </a:r>
          </a:p>
          <a:p>
            <a:pPr algn="l">
              <a:spcBef>
                <a:spcPts val="300"/>
              </a:spcBef>
            </a:pPr>
            <a:r>
              <a:rPr sz="1100" b="0" i="1">
                <a:solidFill>
                  <a:srgbClr val="2B2B2B"/>
                </a:solidFill>
                <a:latin typeface="Arial"/>
              </a:rPr>
              <a:t>"may", "could", "possible", "might",
"approximate", "uncertain", "risk"…</a:t>
            </a:r>
          </a:p>
          <a:p>
            <a:pPr algn="l">
              <a:spcBef>
                <a:spcPts val="600"/>
              </a:spcBef>
            </a:pPr>
            <a:r>
              <a:rPr sz="1100" b="1" i="0">
                <a:solidFill>
                  <a:srgbClr val="4A4A49"/>
                </a:solidFill>
                <a:latin typeface="Arial"/>
              </a:rPr>
              <a:t>Interpretace: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Hedging neznámého — management signalizuje, že výsledek nelze předpovědět. Obecnější než Litigious.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466001"/>
            <a:ext cx="3960000" cy="360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LM-Uncertainty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4698001"/>
            <a:ext cx="8100000" cy="64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54000" rIns="90000" bIns="54000" rtlCol="0" anchor="ctr"/>
          <a:lstStyle/>
          <a:p>
            <a:pPr algn="l"/>
            <a:r>
              <a:rPr sz="1100" b="1" i="0">
                <a:solidFill>
                  <a:srgbClr val="009881"/>
                </a:solidFill>
                <a:latin typeface="Arial"/>
              </a:rPr>
              <a:t>Kompozitní proměnná:</a:t>
            </a:r>
          </a:p>
          <a:p>
            <a:pPr algn="ctr">
              <a:spcBef>
                <a:spcPts val="300"/>
              </a:spcBef>
            </a:pPr>
            <a:r>
              <a:rPr sz="1300" b="0" i="1">
                <a:solidFill>
                  <a:srgbClr val="4A4A49"/>
                </a:solidFill>
                <a:latin typeface="Cambria Math"/>
              </a:rPr>
              <a:t>RiskDensity = (n_unc + n_lit) / Words₁ₐ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5454001"/>
            <a:ext cx="81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4A4A49"/>
                </a:solidFill>
                <a:latin typeface="Arial"/>
              </a:rPr>
              <a:t>Korelace UncDensity vs. LitDensity ≈ −0,05 → odlišitelné v regresi.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 dirty="0" err="1">
                <a:solidFill>
                  <a:srgbClr val="4A4A49"/>
                </a:solidFill>
                <a:latin typeface="Arial"/>
              </a:rPr>
              <a:t>Metodologie</a:t>
            </a:r>
            <a:r>
              <a:rPr lang="cs-CZ" sz="2200" b="1" dirty="0">
                <a:solidFill>
                  <a:srgbClr val="4A4A49"/>
                </a:solidFill>
                <a:latin typeface="Arial"/>
              </a:rPr>
              <a:t>: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specifikace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modelu</a:t>
            </a:r>
            <a:endParaRPr sz="2200" b="1" dirty="0">
              <a:solidFill>
                <a:srgbClr val="4A4A49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8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980000"/>
            <a:ext cx="8100000" cy="864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54000" rIns="216000" bIns="54000" rtlCol="0" anchor="ctr"/>
          <a:lstStyle/>
          <a:p>
            <a:pPr algn="l"/>
            <a:r>
              <a:rPr sz="1100" b="1" i="0">
                <a:solidFill>
                  <a:srgbClr val="009881"/>
                </a:solidFill>
                <a:latin typeface="Arial"/>
              </a:rPr>
              <a:t>Společný model H1 + H2</a:t>
            </a:r>
          </a:p>
          <a:p>
            <a:pPr algn="ctr">
              <a:spcBef>
                <a:spcPts val="400"/>
              </a:spcBef>
            </a:pPr>
            <a:r>
              <a:rPr sz="1300" b="0" i="1">
                <a:solidFill>
                  <a:srgbClr val="4A4A49"/>
                </a:solidFill>
                <a:latin typeface="Cambria Math"/>
              </a:rPr>
              <a:t>ln σᵢ,ₜ₊₁ᴴ  =  α + φ · ln σᵢ,ₜᴴ + β′·Xᶠᵢⁿ  +  βₗₑₙ · ln(Words₁ₐ)  +  βᵈₑₙₛ · RiskDensity  +  μⱼ + τₜ + ε</a:t>
            </a:r>
          </a:p>
        </p:txBody>
      </p:sp>
      <p:sp>
        <p:nvSpPr>
          <p:cNvPr id="7" name="Rectangle 6"/>
          <p:cNvSpPr/>
          <p:nvPr/>
        </p:nvSpPr>
        <p:spPr>
          <a:xfrm>
            <a:off x="522000" y="3024000"/>
            <a:ext cx="3960000" cy="1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2000" y="3024000"/>
            <a:ext cx="1260000" cy="108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1">
                <a:solidFill>
                  <a:srgbClr val="FFFFFF"/>
                </a:solidFill>
                <a:latin typeface="Cambria Math"/>
              </a:rPr>
              <a:t>βₗₑₙ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0000" y="3168000"/>
            <a:ext cx="25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4A49"/>
                </a:solidFill>
                <a:latin typeface="Arial"/>
              </a:rPr>
              <a:t>log délka Item 1A</a:t>
            </a:r>
          </a:p>
          <a:p>
            <a:pPr algn="l">
              <a:spcBef>
                <a:spcPts val="300"/>
              </a:spcBef>
            </a:pPr>
            <a:r>
              <a:rPr sz="1100" b="0" i="1">
                <a:solidFill>
                  <a:srgbClr val="009881"/>
                </a:solidFill>
                <a:latin typeface="Arial"/>
              </a:rPr>
              <a:t>H1 — objem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2000" y="3024000"/>
            <a:ext cx="3960000" cy="1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2000" y="3024000"/>
            <a:ext cx="1260000" cy="1080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1">
                <a:solidFill>
                  <a:srgbClr val="FFFFFF"/>
                </a:solidFill>
                <a:latin typeface="Cambria Math"/>
              </a:rPr>
              <a:t>βᵈₑₙₛ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0000" y="3168000"/>
            <a:ext cx="25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4A49"/>
                </a:solidFill>
                <a:latin typeface="Arial"/>
              </a:rPr>
              <a:t>RiskDensity (LM)</a:t>
            </a:r>
          </a:p>
          <a:p>
            <a:pPr algn="l">
              <a:spcBef>
                <a:spcPts val="300"/>
              </a:spcBef>
            </a:pPr>
            <a:r>
              <a:rPr sz="1100" b="0" i="1">
                <a:solidFill>
                  <a:srgbClr val="4A4A49"/>
                </a:solidFill>
                <a:latin typeface="Arial"/>
              </a:rPr>
              <a:t>H2 — specifičnost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2000" y="4212000"/>
            <a:ext cx="3960000" cy="1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2000" y="4212000"/>
            <a:ext cx="1260000" cy="108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1">
                <a:solidFill>
                  <a:srgbClr val="FFFFFF"/>
                </a:solidFill>
                <a:latin typeface="Cambria Math"/>
              </a:rPr>
              <a:t>βᵤₙᶜ + βₗᵢₜ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0000" y="4356000"/>
            <a:ext cx="25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4A49"/>
                </a:solidFill>
                <a:latin typeface="Arial"/>
              </a:rPr>
              <a:t>Dekompozice LM</a:t>
            </a:r>
          </a:p>
          <a:p>
            <a:pPr algn="l">
              <a:spcBef>
                <a:spcPts val="300"/>
              </a:spcBef>
            </a:pPr>
            <a:r>
              <a:rPr sz="1100" b="0" i="1">
                <a:solidFill>
                  <a:srgbClr val="009881"/>
                </a:solidFill>
                <a:latin typeface="Arial"/>
              </a:rPr>
              <a:t>Druhý stupeň H2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2000" y="4212000"/>
            <a:ext cx="3960000" cy="1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2000" y="4212000"/>
            <a:ext cx="1260000" cy="1080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1">
                <a:solidFill>
                  <a:srgbClr val="FFFFFF"/>
                </a:solidFill>
                <a:latin typeface="Cambria Math"/>
              </a:rPr>
              <a:t>βₒₘ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0000" y="4356000"/>
            <a:ext cx="25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4A49"/>
                </a:solidFill>
                <a:latin typeface="Arial"/>
              </a:rPr>
              <a:t>Omission₁ₐ vůči peerům</a:t>
            </a:r>
          </a:p>
          <a:p>
            <a:pPr algn="l">
              <a:spcBef>
                <a:spcPts val="300"/>
              </a:spcBef>
            </a:pPr>
            <a:r>
              <a:rPr sz="1100" b="0" i="1">
                <a:solidFill>
                  <a:srgbClr val="4A4A49"/>
                </a:solidFill>
                <a:latin typeface="Arial"/>
              </a:rPr>
              <a:t>H3 — strategické mlčení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5436000"/>
            <a:ext cx="810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4A4A49"/>
                </a:solidFill>
                <a:latin typeface="Arial"/>
              </a:rPr>
              <a:t>Závislá proměnná: sd(denních log-returnů) v okně [filing+2d, filing+h d], annualizováno ×√252, v logu.
OLS · FE (odvětví/firma + rok) · SE klastrované dvouvrstvově (firma × rok) · Kontroly: Size, Leverage, ROA, Asset Growth, lagged 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 dirty="0" err="1">
                <a:solidFill>
                  <a:srgbClr val="4A4A49"/>
                </a:solidFill>
                <a:latin typeface="Arial"/>
              </a:rPr>
              <a:t>Výsledky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H1 + H2 </a:t>
            </a:r>
            <a:r>
              <a:rPr lang="cs-CZ" sz="2200" b="1" dirty="0">
                <a:solidFill>
                  <a:srgbClr val="4A4A49"/>
                </a:solidFill>
                <a:latin typeface="Arial"/>
              </a:rPr>
              <a:t>a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koeficienty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napříč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horizonty</a:t>
            </a:r>
            <a:endParaRPr sz="2200" b="1" dirty="0">
              <a:solidFill>
                <a:srgbClr val="4A4A49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9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000" y="1998001"/>
            <a:ext cx="25560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1800" b="1" i="0" dirty="0">
                <a:solidFill>
                  <a:srgbClr val="009881"/>
                </a:solidFill>
                <a:latin typeface="Arial"/>
              </a:rPr>
              <a:t>β</a:t>
            </a:r>
            <a:r>
              <a:rPr lang="cs-CZ" b="1" baseline="-25000" dirty="0">
                <a:solidFill>
                  <a:srgbClr val="009881"/>
                </a:solidFill>
                <a:latin typeface="Arial"/>
              </a:rPr>
              <a:t>len</a:t>
            </a:r>
            <a:r>
              <a:rPr sz="1800" b="1" i="0" dirty="0">
                <a:solidFill>
                  <a:srgbClr val="009881"/>
                </a:solidFill>
                <a:latin typeface="Arial"/>
              </a:rPr>
              <a:t> = +0,121</a:t>
            </a:r>
          </a:p>
          <a:p>
            <a:pPr algn="ctr">
              <a:spcBef>
                <a:spcPts val="200"/>
              </a:spcBef>
            </a:pPr>
            <a:r>
              <a:rPr sz="1000" b="0" i="0" dirty="0">
                <a:solidFill>
                  <a:srgbClr val="4A4A49"/>
                </a:solidFill>
                <a:latin typeface="Arial"/>
              </a:rPr>
              <a:t>t = +7,64   ·   H1 </a:t>
            </a:r>
            <a:r>
              <a:rPr sz="1000" b="0" i="0" dirty="0" err="1">
                <a:solidFill>
                  <a:srgbClr val="4A4A49"/>
                </a:solidFill>
                <a:latin typeface="Arial"/>
              </a:rPr>
              <a:t>podpořeno</a:t>
            </a:r>
            <a:endParaRPr sz="1000" b="0" i="0" dirty="0">
              <a:solidFill>
                <a:srgbClr val="4A4A49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94000" y="1998001"/>
            <a:ext cx="25560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1800" b="1" i="0" dirty="0">
                <a:solidFill>
                  <a:srgbClr val="C0392B"/>
                </a:solidFill>
                <a:latin typeface="Arial"/>
              </a:rPr>
              <a:t>β</a:t>
            </a:r>
            <a:r>
              <a:rPr lang="cs-CZ" sz="1800" b="1" i="0" baseline="-25000" dirty="0" err="1">
                <a:solidFill>
                  <a:srgbClr val="C0392B"/>
                </a:solidFill>
                <a:latin typeface="Arial"/>
              </a:rPr>
              <a:t>dens</a:t>
            </a:r>
            <a:r>
              <a:rPr sz="1800" b="1" i="0" dirty="0">
                <a:solidFill>
                  <a:srgbClr val="C0392B"/>
                </a:solidFill>
                <a:latin typeface="Arial"/>
              </a:rPr>
              <a:t>= −3,88</a:t>
            </a:r>
          </a:p>
          <a:p>
            <a:pPr algn="ctr">
              <a:spcBef>
                <a:spcPts val="200"/>
              </a:spcBef>
            </a:pPr>
            <a:r>
              <a:rPr sz="1000" b="0" i="0" dirty="0">
                <a:solidFill>
                  <a:srgbClr val="4A4A49"/>
                </a:solidFill>
                <a:latin typeface="Arial"/>
              </a:rPr>
              <a:t>t = −2,68   ·   H2 </a:t>
            </a:r>
            <a:r>
              <a:rPr sz="1000" b="0" i="0" dirty="0" err="1">
                <a:solidFill>
                  <a:srgbClr val="4A4A49"/>
                </a:solidFill>
                <a:latin typeface="Arial"/>
              </a:rPr>
              <a:t>podpořeno</a:t>
            </a:r>
            <a:endParaRPr sz="1000" b="0" i="0" dirty="0">
              <a:solidFill>
                <a:srgbClr val="4A4A49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94000" y="1998001"/>
            <a:ext cx="25560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ctr"/>
          <a:lstStyle/>
          <a:p>
            <a:pPr algn="ctr"/>
            <a:r>
              <a:rPr sz="1800" b="1" i="0">
                <a:solidFill>
                  <a:srgbClr val="4A4A49"/>
                </a:solidFill>
                <a:latin typeface="Arial"/>
              </a:rPr>
              <a:t>n = 5 691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4A4A49"/>
                </a:solidFill>
                <a:latin typeface="Arial"/>
              </a:rPr>
              <a:t>firma-let   ·   h = 30 d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598599"/>
              </p:ext>
            </p:extLst>
          </p:nvPr>
        </p:nvGraphicFramePr>
        <p:xfrm>
          <a:off x="432000" y="2898001"/>
          <a:ext cx="8100000" cy="24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2000" y="5454001"/>
            <a:ext cx="81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Arial"/>
              </a:rPr>
              <a:t>Pozn.: LitDensity a UncDensity škálovány /10 pro vizuální srovnání. Oba kanály identifikovány současně v jedné regresi.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>
                <a:solidFill>
                  <a:srgbClr val="4A4A49"/>
                </a:solidFill>
                <a:latin typeface="Arial"/>
              </a:rPr>
              <a:t>Dekompozice LM slovníku (druhý stupeň H2)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10 / 16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659145"/>
              </p:ext>
            </p:extLst>
          </p:nvPr>
        </p:nvGraphicFramePr>
        <p:xfrm>
          <a:off x="432000" y="1728000"/>
          <a:ext cx="4860000" cy="30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544000" y="1728000"/>
            <a:ext cx="324000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96000" rIns="90000" bIns="54000" rtlCol="0" anchor="t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t = −3,38   ·   p &lt; 0,001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Boilerplate (safe-harbour formulace) nese celý negativní efekt specificity.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44000" y="1728000"/>
            <a:ext cx="3240000" cy="324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LM-Litigious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544000" y="3348000"/>
            <a:ext cx="324000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96000" rIns="90000" bIns="54000" rtlCol="0" anchor="t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t = −1,01   ·   p ≈ 0,31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Hedging neznámého nemá samostatnou sílu po kontrole délky a litigious wordingu.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4000" y="3348000"/>
            <a:ext cx="3240000" cy="324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LM-Uncertainty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4932000"/>
            <a:ext cx="64800" cy="612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6800" y="4932000"/>
            <a:ext cx="8035200" cy="612000"/>
          </a:xfrm>
          <a:prstGeom prst="rect">
            <a:avLst/>
          </a:prstGeom>
          <a:solidFill>
            <a:srgbClr val="CC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90000" bIns="54000" rtlCol="0" anchor="ctr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Intuice: trh ignoruje právní boilerplate (opakující se "may be subject to litigation"), ale reaguje na firm-specific obsah zachycený délkou.
Waldův test βᵤₙᶜ = βₗᵢₜ:  z = +1,91 (p = 0,056).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 dirty="0" err="1">
                <a:solidFill>
                  <a:srgbClr val="4A4A49"/>
                </a:solidFill>
                <a:latin typeface="Arial"/>
              </a:rPr>
              <a:t>Konstrukce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Omission₁ₐ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11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87401"/>
            <a:ext cx="81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A4A49"/>
                </a:solidFill>
                <a:latin typeface="Arial"/>
              </a:rPr>
              <a:t>Co firma NEŘEKNE relativně k peerům může informovat o budoucí volatilitě.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2455401"/>
            <a:ext cx="2592000" cy="19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432000" rIns="108000" bIns="54000" rtlCol="0" anchor="t"/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Pro každý rok definujeme peer skupinu = firmy ve stejném SIC2 odvětví.
Min. 5 peerů v buňce;
medián 35 firem.
Leave-one-out: focal firma vyloučena z vlastních peerů.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2455401"/>
            <a:ext cx="2592000" cy="36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Krok 1: Peer-cell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8000" y="3445401"/>
            <a:ext cx="108000" cy="0"/>
          </a:xfrm>
          <a:prstGeom prst="line">
            <a:avLst/>
          </a:prstGeom>
          <a:ln w="25400">
            <a:solidFill>
              <a:srgbClr val="4A4A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76000" y="2455401"/>
            <a:ext cx="2592000" cy="19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432000" rIns="108000" bIns="54000" rtlCol="0" anchor="t"/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Každý Item 1A → TF–IDF vektor.
TF = frekvence termu v dokumentu
IDF = log(N / n_docs s termem)
Filtry: term v ≥5 a ≤95 % filingů;
L2 normalizace.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000" y="2455401"/>
            <a:ext cx="2592000" cy="360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Krok 2: TF–IDF vektorizace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8000" y="3445401"/>
            <a:ext cx="108000" cy="0"/>
          </a:xfrm>
          <a:prstGeom prst="line">
            <a:avLst/>
          </a:prstGeom>
          <a:ln w="25400">
            <a:solidFill>
              <a:srgbClr val="4A4A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976000" y="2455401"/>
            <a:ext cx="2592000" cy="19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432000" rIns="108000" bIns="54000" rtlCol="0" anchor="t"/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Omission₁ₐ = 1 − (pokrytá TF–IDF váha peerů / celková TF–IDF váha peerů)
≈ 0 → firma pokrývá vše, co píšou peers
≈ 1 → firma ignoruje většinu peer-témat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6000" y="2455401"/>
            <a:ext cx="2592000" cy="36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Krok 3: Omission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4615401"/>
            <a:ext cx="64800" cy="576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6800" y="4615401"/>
            <a:ext cx="8035200" cy="576000"/>
          </a:xfrm>
          <a:prstGeom prst="rect">
            <a:avLst/>
          </a:prstGeom>
          <a:solidFill>
            <a:srgbClr val="CC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90000" bIns="54000" rtlCol="0" anchor="ctr"/>
          <a:lstStyle/>
          <a:p>
            <a:pPr algn="l"/>
            <a:r>
              <a:rPr sz="1100" b="1" i="0" dirty="0" err="1">
                <a:solidFill>
                  <a:srgbClr val="4A4A49"/>
                </a:solidFill>
                <a:latin typeface="Arial"/>
              </a:rPr>
              <a:t>Příklad</a:t>
            </a:r>
            <a:r>
              <a:rPr sz="1100" b="1" i="0" dirty="0">
                <a:solidFill>
                  <a:srgbClr val="4A4A49"/>
                </a:solidFill>
                <a:latin typeface="Arial"/>
              </a:rPr>
              <a:t>: peer-cell </a:t>
            </a:r>
            <a:r>
              <a:rPr sz="1100" b="1" i="0" dirty="0" err="1">
                <a:solidFill>
                  <a:srgbClr val="4A4A49"/>
                </a:solidFill>
                <a:latin typeface="Arial"/>
              </a:rPr>
              <a:t>píše</a:t>
            </a:r>
            <a:r>
              <a:rPr sz="1100" b="1" i="0" dirty="0">
                <a:solidFill>
                  <a:srgbClr val="4A4A49"/>
                </a:solidFill>
                <a:latin typeface="Arial"/>
              </a:rPr>
              <a:t> 50× „cybersecurity, ransomware“ </a:t>
            </a:r>
            <a:r>
              <a:rPr lang="cs-CZ" sz="1100" b="1" i="0" dirty="0">
                <a:solidFill>
                  <a:srgbClr val="4A4A49"/>
                </a:solidFill>
                <a:latin typeface="Arial"/>
              </a:rPr>
              <a:t>a</a:t>
            </a:r>
            <a:r>
              <a:rPr sz="1100" b="1" i="0" dirty="0">
                <a:solidFill>
                  <a:srgbClr val="4A4A49"/>
                </a:solidFill>
                <a:latin typeface="Arial"/>
              </a:rPr>
              <a:t> focal </a:t>
            </a:r>
            <a:r>
              <a:rPr sz="1100" b="1" i="0" dirty="0" err="1">
                <a:solidFill>
                  <a:srgbClr val="4A4A49"/>
                </a:solidFill>
                <a:latin typeface="Arial"/>
              </a:rPr>
              <a:t>firma</a:t>
            </a:r>
            <a:r>
              <a:rPr sz="1100" b="1" i="0" dirty="0">
                <a:solidFill>
                  <a:srgbClr val="4A4A49"/>
                </a:solidFill>
                <a:latin typeface="Arial"/>
              </a:rPr>
              <a:t> to </a:t>
            </a:r>
            <a:r>
              <a:rPr sz="1100" b="1" i="0" dirty="0" err="1">
                <a:solidFill>
                  <a:srgbClr val="4A4A49"/>
                </a:solidFill>
                <a:latin typeface="Arial"/>
              </a:rPr>
              <a:t>nezmní</a:t>
            </a:r>
            <a:r>
              <a:rPr sz="1100" b="1" i="0" dirty="0">
                <a:solidFill>
                  <a:srgbClr val="4A4A49"/>
                </a:solidFill>
                <a:latin typeface="Arial"/>
              </a:rPr>
              <a:t> → </a:t>
            </a:r>
            <a:r>
              <a:rPr sz="1100" b="1" i="0" dirty="0" err="1">
                <a:solidFill>
                  <a:srgbClr val="4A4A49"/>
                </a:solidFill>
                <a:latin typeface="Arial"/>
              </a:rPr>
              <a:t>vysoké</a:t>
            </a:r>
            <a:r>
              <a:rPr sz="1100" b="1" i="0" dirty="0">
                <a:solidFill>
                  <a:srgbClr val="4A4A49"/>
                </a:solidFill>
                <a:latin typeface="Arial"/>
              </a:rPr>
              <a:t> Omission₁ₐ → </a:t>
            </a:r>
            <a:r>
              <a:rPr sz="1100" b="1" i="0" dirty="0" err="1">
                <a:solidFill>
                  <a:srgbClr val="4A4A49"/>
                </a:solidFill>
                <a:latin typeface="Arial"/>
              </a:rPr>
              <a:t>vyšší</a:t>
            </a:r>
            <a:r>
              <a:rPr sz="1100" b="1" i="0" dirty="0">
                <a:solidFill>
                  <a:srgbClr val="4A4A49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4A4A49"/>
                </a:solidFill>
                <a:latin typeface="Arial"/>
              </a:rPr>
              <a:t>budoucí</a:t>
            </a:r>
            <a:r>
              <a:rPr sz="1100" b="1" i="0" dirty="0">
                <a:solidFill>
                  <a:srgbClr val="4A4A49"/>
                </a:solidFill>
                <a:latin typeface="Arial"/>
              </a:rPr>
              <a:t> 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5299401"/>
            <a:ext cx="81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4A4A49"/>
                </a:solidFill>
                <a:latin typeface="Arial"/>
              </a:rPr>
              <a:t>Korelace Omission₁ₐ vs. ln(Words₁ₐ) = −0,85 → nutná kontrola délky v regresi.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>
                <a:solidFill>
                  <a:srgbClr val="4A4A49"/>
                </a:solidFill>
                <a:latin typeface="Arial"/>
              </a:rPr>
              <a:t>Strategické mlčení (H3) — výsledky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12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2116601"/>
            <a:ext cx="3960000" cy="1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68000" rIns="90000" bIns="54000" rtlCol="0" anchor="t"/>
          <a:lstStyle/>
          <a:p>
            <a:pPr algn="ctr"/>
            <a:r>
              <a:rPr sz="2800" b="1" i="1">
                <a:solidFill>
                  <a:srgbClr val="4A4A49"/>
                </a:solidFill>
                <a:latin typeface="Cambria Math"/>
              </a:rPr>
              <a:t>βₒₘ ≈ 0</a:t>
            </a:r>
          </a:p>
          <a:p>
            <a:pPr algn="ctr">
              <a:spcBef>
                <a:spcPts val="400"/>
              </a:spcBef>
            </a:pPr>
            <a:r>
              <a:rPr sz="1100" b="0" i="0">
                <a:solidFill>
                  <a:srgbClr val="4A4A49"/>
                </a:solidFill>
                <a:latin typeface="Arial"/>
              </a:rPr>
              <a:t>|t| &lt; 1,1 na všech horizontech</a:t>
            </a:r>
          </a:p>
          <a:p>
            <a:pPr algn="ctr">
              <a:spcBef>
                <a:spcPts val="400"/>
              </a:spcBef>
            </a:pPr>
            <a:r>
              <a:rPr sz="1100" b="0" i="1">
                <a:solidFill>
                  <a:srgbClr val="2B2B2B"/>
                </a:solidFill>
                <a:latin typeface="Arial"/>
              </a:rPr>
              <a:t>Stabilní mezifirmní rozdíly v pokrytí → nenesou informaci o σ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2116601"/>
            <a:ext cx="3960000" cy="360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Odvětví + rok FE (cross-section)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116601"/>
            <a:ext cx="3960000" cy="16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468000" rIns="90000" bIns="54000" rtlCol="0" anchor="t"/>
          <a:lstStyle/>
          <a:p>
            <a:pPr algn="ctr"/>
            <a:r>
              <a:rPr sz="2800" b="1" i="1">
                <a:solidFill>
                  <a:srgbClr val="009881"/>
                </a:solidFill>
                <a:latin typeface="Cambria Math"/>
              </a:rPr>
              <a:t>βₒₘ = +1,345</a:t>
            </a:r>
          </a:p>
          <a:p>
            <a:pPr algn="ctr">
              <a:spcBef>
                <a:spcPts val="400"/>
              </a:spcBef>
            </a:pPr>
            <a:r>
              <a:rPr sz="1100" b="0" i="0">
                <a:solidFill>
                  <a:srgbClr val="4A4A49"/>
                </a:solidFill>
                <a:latin typeface="Arial"/>
              </a:rPr>
              <a:t>t = +2,93   ·   p = 0,003   (h = 30 d)</a:t>
            </a:r>
          </a:p>
          <a:p>
            <a:pPr algn="ctr">
              <a:spcBef>
                <a:spcPts val="400"/>
              </a:spcBef>
            </a:pPr>
            <a:r>
              <a:rPr sz="1100" b="0" i="1">
                <a:solidFill>
                  <a:srgbClr val="2B2B2B"/>
                </a:solidFill>
                <a:latin typeface="Arial"/>
              </a:rPr>
              <a:t>Meziroční ZMĚNA v opomenutí → informace o σ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116601"/>
            <a:ext cx="3960000" cy="36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Firma + rok FE (within-firm)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3916601"/>
            <a:ext cx="8100000" cy="1007999"/>
          </a:xfrm>
          <a:prstGeom prst="rect">
            <a:avLst/>
          </a:prstGeom>
          <a:solidFill>
            <a:srgbClr val="F4F4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00" y="4024601"/>
            <a:ext cx="7848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Proč firma FE mění výsledek?
• Mezi firmami: velké stabilní rozdíly v šíři rizikového profilu (IT firma vs. utilita) — trvale různé Omission → β ≈ 0.
• Within-firm: co se změní rok-od-roku v tom, co firma vynechá relativně k vlastnímu průměru — TAM je informace o budoucí σ.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5140601"/>
            <a:ext cx="64800" cy="503999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6800" y="5140601"/>
            <a:ext cx="8035200" cy="503999"/>
          </a:xfrm>
          <a:prstGeom prst="rect">
            <a:avLst/>
          </a:prstGeom>
          <a:solidFill>
            <a:srgbClr val="CC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90000" bIns="54000" rtlCol="0" anchor="ctr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+1 within-firm SD (0,054) ≈ +7,3 % na 30denní volatilitě.   n = 4 630 firma-let.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lang="cs-CZ" sz="2200" b="1" dirty="0">
                <a:solidFill>
                  <a:srgbClr val="4A4A49"/>
                </a:solidFill>
                <a:latin typeface="Arial"/>
              </a:rPr>
              <a:t>T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-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statistiky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napříč</a:t>
            </a:r>
            <a:r>
              <a:rPr sz="2200" b="1" dirty="0">
                <a:solidFill>
                  <a:srgbClr val="4A4A49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4A4A49"/>
                </a:solidFill>
                <a:latin typeface="Arial"/>
              </a:rPr>
              <a:t>horizonty</a:t>
            </a:r>
            <a:endParaRPr sz="2200" b="1" dirty="0">
              <a:solidFill>
                <a:srgbClr val="4A4A49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13 / 16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966301"/>
              </p:ext>
            </p:extLst>
          </p:nvPr>
        </p:nvGraphicFramePr>
        <p:xfrm>
          <a:off x="432000" y="2065723"/>
          <a:ext cx="5220000" cy="30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832000" y="2065723"/>
            <a:ext cx="2808000" cy="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72000" rIns="72000" bIns="54000" rtlCol="0" anchor="t"/>
          <a:lstStyle/>
          <a:p>
            <a:pPr algn="l"/>
            <a:r>
              <a:rPr sz="1100" b="1" i="0">
                <a:solidFill>
                  <a:srgbClr val="009881"/>
                </a:solidFill>
                <a:latin typeface="Arial"/>
              </a:rPr>
              <a:t>Pre-COVID vs. COVID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B2B2B"/>
                </a:solidFill>
                <a:latin typeface="Arial"/>
              </a:rPr>
              <a:t>Stejný vzorec v obou podvzorcích (2010–2019 vs. 2020–2024).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32000" y="2065723"/>
            <a:ext cx="64800" cy="90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32000" y="3073723"/>
            <a:ext cx="2808000" cy="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72000" rIns="72000" bIns="54000" rtlCol="0" anchor="t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Firemní FE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B2B2B"/>
                </a:solidFill>
                <a:latin typeface="Arial"/>
              </a:rPr>
              <a:t>βₗₑₙ přežívá (+0,084; t = +3,31); sub-density absorbovány (boilerplate = trvalý firemní rys).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32000" y="3073723"/>
            <a:ext cx="64800" cy="900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32000" y="4081723"/>
            <a:ext cx="2808000" cy="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72000" rIns="72000" bIns="54000" rtlCol="0" anchor="t"/>
          <a:lstStyle/>
          <a:p>
            <a:pPr algn="l"/>
            <a:r>
              <a:rPr sz="1100" b="1" i="0">
                <a:solidFill>
                  <a:srgbClr val="009881"/>
                </a:solidFill>
                <a:latin typeface="Arial"/>
              </a:rPr>
              <a:t>H3 placebo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B2B2B"/>
                </a:solidFill>
                <a:latin typeface="Arial"/>
              </a:rPr>
              <a:t>Náhodné přiřazení do SIC2 buněk → |t| ∈ [0,54; 0,90] vs. reálné t = +2,93. Efekt je peer-specifický.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32000" y="4081723"/>
            <a:ext cx="64800" cy="90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32000" y="5089723"/>
            <a:ext cx="2808000" cy="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72000" rIns="72000" bIns="54000" rtlCol="0" anchor="t"/>
          <a:lstStyle/>
          <a:p>
            <a:pPr algn="l"/>
            <a:r>
              <a:rPr sz="1100" b="1" i="0">
                <a:solidFill>
                  <a:srgbClr val="4A4A49"/>
                </a:solidFill>
                <a:latin typeface="Arial"/>
              </a:rPr>
              <a:t>≥20 peerů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2B2B2B"/>
                </a:solidFill>
                <a:latin typeface="Arial"/>
              </a:rPr>
              <a:t>Velké buňky: βₒₘ = +2,52 (t = +3,09). Signál silnější s přesnějším peer-agregátem.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32000" y="5089723"/>
            <a:ext cx="64800" cy="900000"/>
          </a:xfrm>
          <a:prstGeom prst="rect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5233723"/>
            <a:ext cx="52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Arial"/>
              </a:rPr>
              <a:t>Pozn.: Vodorovné pásmo |t| = 2 odpovídá hladině 5 %.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>
                <a:solidFill>
                  <a:srgbClr val="4A4A49"/>
                </a:solidFill>
                <a:latin typeface="Arial"/>
              </a:rPr>
              <a:t>Závěr a přínos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14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1" y="2196000"/>
            <a:ext cx="262800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8001" y="2340000"/>
            <a:ext cx="360000" cy="360000"/>
          </a:xfrm>
          <a:prstGeom prst="ellipse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1" y="2340000"/>
            <a:ext cx="1872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881"/>
                </a:solidFill>
                <a:latin typeface="Arial"/>
              </a:rPr>
              <a:t>Objem ≠ specifičnost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Oba kanály jsou současně identifikovatelné v jedné regresi. Délka = riziko; boilerplate = šum.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58000" y="2196000"/>
            <a:ext cx="262800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02000" y="2340000"/>
            <a:ext cx="360000" cy="360000"/>
          </a:xfrm>
          <a:prstGeom prst="ellipse">
            <a:avLst/>
          </a:prstGeom>
          <a:solidFill>
            <a:srgbClr val="4A4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0000" y="2340000"/>
            <a:ext cx="1872000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4A4A49"/>
                </a:solidFill>
                <a:latin typeface="Arial"/>
              </a:rPr>
              <a:t>Boilerplate, ne hedging</a:t>
            </a:r>
          </a:p>
          <a:p>
            <a:pPr algn="l">
              <a:spcBef>
                <a:spcPts val="400"/>
              </a:spcBef>
            </a:pPr>
            <a:r>
              <a:rPr sz="1100" b="0" i="0" dirty="0" err="1">
                <a:solidFill>
                  <a:srgbClr val="2B2B2B"/>
                </a:solidFill>
                <a:latin typeface="Arial"/>
              </a:rPr>
              <a:t>Negativní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efekt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drží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LM-Litigious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slovník</a:t>
            </a:r>
            <a:r>
              <a:rPr lang="cs-CZ" sz="1100" dirty="0">
                <a:solidFill>
                  <a:srgbClr val="2B2B2B"/>
                </a:solidFill>
                <a:latin typeface="Arial"/>
              </a:rPr>
              <a:t>,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ne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obecné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výrazy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2B2B2B"/>
                </a:solidFill>
                <a:latin typeface="Arial"/>
              </a:rPr>
              <a:t>nejistoty</a:t>
            </a:r>
            <a:r>
              <a:rPr sz="1100" b="0" i="0" dirty="0">
                <a:solidFill>
                  <a:srgbClr val="2B2B2B"/>
                </a:solidFill>
                <a:latin typeface="Arial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11999" y="2196000"/>
            <a:ext cx="262800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155999" y="2340000"/>
            <a:ext cx="360000" cy="360000"/>
          </a:xfrm>
          <a:prstGeom prst="ellipse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3999" y="2340000"/>
            <a:ext cx="1872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881"/>
                </a:solidFill>
                <a:latin typeface="Arial"/>
              </a:rPr>
              <a:t>Mlčení vůči peerům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Co firma neřekne relativně k peerům informuje o budoucí σ (within-firm).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815999"/>
            <a:ext cx="64800" cy="648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6800" y="3815999"/>
            <a:ext cx="8035200" cy="648000"/>
          </a:xfrm>
          <a:prstGeom prst="rect">
            <a:avLst/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90000" bIns="54000" rtlCol="0" anchor="ctr"/>
          <a:lstStyle/>
          <a:p>
            <a:pPr algn="l"/>
            <a:r>
              <a:rPr sz="1200" b="1" i="0">
                <a:solidFill>
                  <a:srgbClr val="4A4A49"/>
                </a:solidFill>
                <a:latin typeface="Arial"/>
              </a:rPr>
              <a:t>Limity: predikční (nikoli kauzální) čtení  ·  vzorek velkých amerických firem  ·  H3 závisí na volbě peer-benchmarku (SIC2) a v decilech slábne.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4608000"/>
            <a:ext cx="64800" cy="648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6800" y="4608000"/>
            <a:ext cx="8035200" cy="648000"/>
          </a:xfrm>
          <a:prstGeom prst="rect">
            <a:avLst/>
          </a:prstGeom>
          <a:solidFill>
            <a:srgbClr val="CC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90000" bIns="54000" rtlCol="0" anchor="ctr"/>
          <a:lstStyle/>
          <a:p>
            <a:pPr algn="l"/>
            <a:r>
              <a:rPr sz="1200" b="1" i="0">
                <a:solidFill>
                  <a:srgbClr val="4A4A49"/>
                </a:solidFill>
                <a:latin typeface="Arial"/>
              </a:rPr>
              <a:t>Přínos: replikovatelná pipeline (SEC EDGAR XBRL · HTML parser · LM dekompozice · peer-omission konstrukt) — modulární kód pro další výzkum.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1152000"/>
            <a:ext cx="8280000" cy="432000"/>
          </a:xfrm>
        </p:spPr>
        <p:txBody>
          <a:bodyPr/>
          <a:lstStyle/>
          <a:p>
            <a:pPr algn="l"/>
            <a:r>
              <a:rPr sz="2200" b="1">
                <a:solidFill>
                  <a:srgbClr val="4A4A49"/>
                </a:solidFill>
                <a:latin typeface="Arial"/>
              </a:rPr>
              <a:t>Zdroje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602000"/>
            <a:ext cx="540000" cy="508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" y="6606001"/>
            <a:ext cx="77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Š. Slanský · Bakalářský seminář · VŠE 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6606001"/>
            <a:ext cx="503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Arial"/>
              </a:rPr>
              <a:t>15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728000"/>
            <a:ext cx="81000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90000" rIns="144000" bIns="54000" rtlCol="0" anchor="t"/>
          <a:lstStyle/>
          <a:p>
            <a:pPr algn="l"/>
            <a:r>
              <a:rPr sz="1200" b="1" i="0">
                <a:solidFill>
                  <a:srgbClr val="4A4A49"/>
                </a:solidFill>
                <a:latin typeface="Arial"/>
              </a:rPr>
              <a:t>Campbell, J. L., Chen, H., Dhaliwal, D. S., Lu, H., &amp; Steele, L. B. (2014).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The information content of mandatory risk factor disclosures in corporate filings. Review of Accounting Studies, 19(1), 396–455.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728000"/>
            <a:ext cx="64800" cy="72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2000" y="2556000"/>
            <a:ext cx="81000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90000" rIns="144000" bIns="54000" rtlCol="0" anchor="t"/>
          <a:lstStyle/>
          <a:p>
            <a:pPr algn="l"/>
            <a:r>
              <a:rPr sz="1200" b="1" i="0">
                <a:solidFill>
                  <a:srgbClr val="4A4A49"/>
                </a:solidFill>
                <a:latin typeface="Arial"/>
              </a:rPr>
              <a:t>Hope, O.-K., Hu, D., &amp; Lu, H. (2016).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The benefits of specific risk-factor disclosures. Review of Accounting Studies, 21(4), 1005–1045.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556000"/>
            <a:ext cx="64800" cy="72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3384000"/>
            <a:ext cx="81000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90000" rIns="144000" bIns="54000" rtlCol="0" anchor="t"/>
          <a:lstStyle/>
          <a:p>
            <a:pPr algn="l"/>
            <a:r>
              <a:rPr sz="1200" b="1" i="0">
                <a:solidFill>
                  <a:srgbClr val="4A4A49"/>
                </a:solidFill>
                <a:latin typeface="Arial"/>
              </a:rPr>
              <a:t>Loughran, T., &amp; McDonald, B. (2011).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When is a liability not a liability? Textual analysis, dictionaries, and 10-Ks. The Journal of Finance, 66(1), 35–65.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3384000"/>
            <a:ext cx="64800" cy="72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000" y="4212000"/>
            <a:ext cx="81000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90000" rIns="144000" bIns="54000" rtlCol="0" anchor="t"/>
          <a:lstStyle/>
          <a:p>
            <a:pPr algn="l"/>
            <a:r>
              <a:rPr sz="1200" b="1" i="0">
                <a:solidFill>
                  <a:srgbClr val="4A4A49"/>
                </a:solidFill>
                <a:latin typeface="Arial"/>
              </a:rPr>
              <a:t>Gilardi, F., Alizadeh, M., &amp; Kubli, M. (2023).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2B2B2B"/>
                </a:solidFill>
                <a:latin typeface="Arial"/>
              </a:rPr>
              <a:t>ChatGPT outperforms crowd workers for text-annotation tasks. PNAS, 120(30), e2305016120.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4212000"/>
            <a:ext cx="64800" cy="720000"/>
          </a:xfrm>
          <a:prstGeom prst="rect">
            <a:avLst/>
          </a:prstGeom>
          <a:solidFill>
            <a:srgbClr val="0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9881"/>
                </a:solidFill>
                <a:latin typeface="Arial"/>
              </a:rPr>
              <a:t>Děkuji za pozornost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000"/>
              </a:spcBef>
            </a:pPr>
            <a:r>
              <a:rPr sz="1200" b="0" i="0" dirty="0">
                <a:solidFill>
                  <a:srgbClr val="888888"/>
                </a:solidFill>
                <a:latin typeface="Arial"/>
              </a:rPr>
              <a:t>Šimon Slanský · VŠE FIS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Úvodní sníme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EFCF83D5-7C28-494A-9D09-A3FDE4EA5435}"/>
    </a:ext>
  </a:extLst>
</a:theme>
</file>

<file path=ppt/theme/theme2.xml><?xml version="1.0" encoding="utf-8"?>
<a:theme xmlns:a="http://schemas.openxmlformats.org/drawingml/2006/main" name="Mezititulek / Závě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0719A898-E866-4DE1-A0C7-6673E2DE6ACC}"/>
    </a:ext>
  </a:extLst>
</a:theme>
</file>

<file path=ppt/theme/theme3.xml><?xml version="1.0" encoding="utf-8"?>
<a:theme xmlns:a="http://schemas.openxmlformats.org/drawingml/2006/main" name="Běžné stránk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5F4265E7-B574-4FDE-A297-F5250285698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e71cfb-81ed-4b9d-9a1f-cae1a72b62ba">
      <Terms xmlns="http://schemas.microsoft.com/office/infopath/2007/PartnerControls"/>
    </lcf76f155ced4ddcb4097134ff3c332f>
    <TaxCatchAll xmlns="184be059-f9c1-47a1-baeb-6b78fb5c2cd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EAD61CDED85140BF5B934B48DD3484" ma:contentTypeVersion="15" ma:contentTypeDescription="Create a new document." ma:contentTypeScope="" ma:versionID="cc982a5df0320791fbc3ea24d0deba6b">
  <xsd:schema xmlns:xsd="http://www.w3.org/2001/XMLSchema" xmlns:xs="http://www.w3.org/2001/XMLSchema" xmlns:p="http://schemas.microsoft.com/office/2006/metadata/properties" xmlns:ns2="7fe71cfb-81ed-4b9d-9a1f-cae1a72b62ba" xmlns:ns3="184be059-f9c1-47a1-baeb-6b78fb5c2cd7" targetNamespace="http://schemas.microsoft.com/office/2006/metadata/properties" ma:root="true" ma:fieldsID="b8f28b2c1c50d19b407cb644c1af36e4" ns2:_="" ns3:_="">
    <xsd:import namespace="7fe71cfb-81ed-4b9d-9a1f-cae1a72b62ba"/>
    <xsd:import namespace="184be059-f9c1-47a1-baeb-6b78fb5c2c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71cfb-81ed-4b9d-9a1f-cae1a72b62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abb5542-b20f-476f-b885-dfe2db7716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4be059-f9c1-47a1-baeb-6b78fb5c2cd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5e9b24e3-0751-412a-b275-2d618e008197}" ma:internalName="TaxCatchAll" ma:showField="CatchAllData" ma:web="184be059-f9c1-47a1-baeb-6b78fb5c2c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DE5107-EA5C-49BC-849B-82F30D30C53B}">
  <ds:schemaRefs>
    <ds:schemaRef ds:uri="http://schemas.microsoft.com/office/2006/metadata/properties"/>
    <ds:schemaRef ds:uri="http://schemas.microsoft.com/office/infopath/2007/PartnerControls"/>
    <ds:schemaRef ds:uri="7fe71cfb-81ed-4b9d-9a1f-cae1a72b62ba"/>
    <ds:schemaRef ds:uri="184be059-f9c1-47a1-baeb-6b78fb5c2cd7"/>
  </ds:schemaRefs>
</ds:datastoreItem>
</file>

<file path=customXml/itemProps2.xml><?xml version="1.0" encoding="utf-8"?>
<ds:datastoreItem xmlns:ds="http://schemas.openxmlformats.org/officeDocument/2006/customXml" ds:itemID="{632259C9-B307-4FF4-B7D2-DAD5D3FFF0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33166F-1A7A-45E1-8E02-BD01A8AC40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e71cfb-81ed-4b9d-9a1f-cae1a72b62ba"/>
    <ds:schemaRef ds:uri="184be059-f9c1-47a1-baeb-6b78fb5c2c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838</TotalTime>
  <Words>1946</Words>
  <Application>Microsoft Office PowerPoint</Application>
  <PresentationFormat>On-screen Show (4:3)</PresentationFormat>
  <Paragraphs>211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 Math</vt:lpstr>
      <vt:lpstr>Úvodní snímek</vt:lpstr>
      <vt:lpstr>Mezititulek / Závěr</vt:lpstr>
      <vt:lpstr>Běžné stránky</vt:lpstr>
      <vt:lpstr>Dekompozice jazyka rizikových faktorů
v 10-K výkazech a následná
volatilita akciových výnosů</vt:lpstr>
      <vt:lpstr>Motivace a dvě protichůdné literatury</vt:lpstr>
      <vt:lpstr>Co je Item 1A a proč na něm záleží</vt:lpstr>
      <vt:lpstr>Hypotézy</vt:lpstr>
      <vt:lpstr>Data</vt:lpstr>
      <vt:lpstr>Kvalita dat a XBRL tag locking a LLM audit</vt:lpstr>
      <vt:lpstr>Co měří Litigious a Uncertainty</vt:lpstr>
      <vt:lpstr>Metodologie: specifikace modelu</vt:lpstr>
      <vt:lpstr>Výsledky H1 + H2 a koeficienty napříč horizonty</vt:lpstr>
      <vt:lpstr>Dekompozice LM slovníku (druhý stupeň H2)</vt:lpstr>
      <vt:lpstr>Konstrukce Omission₁ₐ</vt:lpstr>
      <vt:lpstr>Strategické mlčení (H3) — výsledky</vt:lpstr>
      <vt:lpstr>T-statistiky napříč horizonty</vt:lpstr>
      <vt:lpstr>Závěr a přínos</vt:lpstr>
      <vt:lpstr>Zdroje</vt:lpstr>
      <vt:lpstr>Děkuji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Daniel</dc:creator>
  <cp:lastModifiedBy>Simon Slansky</cp:lastModifiedBy>
  <cp:revision>137</cp:revision>
  <dcterms:created xsi:type="dcterms:W3CDTF">2020-10-22T18:30:25Z</dcterms:created>
  <dcterms:modified xsi:type="dcterms:W3CDTF">2026-05-29T07:59:01Z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0x010100A5EAD61CDED85140BF5B934B48DD3484</vt:lpwstr>
  </property>
</Properties>
</file>
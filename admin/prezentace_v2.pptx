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76" r:id="rId5"/>
    <p:sldMasterId id="2147483662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392B"/>
    <a:srgbClr val="B5EAE0"/>
    <a:srgbClr val="009881"/>
    <a:srgbClr val="89F7E2"/>
    <a:srgbClr val="9AE8F4"/>
    <a:srgbClr val="00659B"/>
    <a:srgbClr val="BDE7FF"/>
    <a:srgbClr val="EB6608"/>
    <a:srgbClr val="FDE2CF"/>
    <a:srgbClr val="D6C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9EE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4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7-4343-BFC8-39C31FD3D7F6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5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67-4343-BFC8-39C31FD3D7F6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6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7-4343-BFC8-39C31FD3D7F6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13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7-4343-BFC8-39C31FD3D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5.7849012345679011E-2"/>
          <c:y val="5.7066993464052286E-2"/>
          <c:w val="0.9233361728395062"/>
          <c:h val="0.7662160947712418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ln(Words₁ₐ)  (βₗₑₙ)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</c:spPr>
          <c:invertIfNegative val="1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0.14199999999999999</c:v>
                </c:pt>
                <c:pt idx="1">
                  <c:v>0.13200000000000001</c:v>
                </c:pt>
                <c:pt idx="2">
                  <c:v>0.121</c:v>
                </c:pt>
                <c:pt idx="3">
                  <c:v>9.4E-2</c:v>
                </c:pt>
                <c:pt idx="4">
                  <c:v>7.8E-2</c:v>
                </c:pt>
                <c:pt idx="5">
                  <c:v>6.0999999999999999E-2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03-4ADC-965F-DABFEC90E6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LitDensity  (βₗᵢₜ, /10)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invertIfNegative val="1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-0.52</c:v>
                </c:pt>
                <c:pt idx="1">
                  <c:v>-0.61</c:v>
                </c:pt>
                <c:pt idx="2">
                  <c:v>-0.62</c:v>
                </c:pt>
                <c:pt idx="3">
                  <c:v>-0.55000000000000004</c:v>
                </c:pt>
                <c:pt idx="4">
                  <c:v>-0.4</c:v>
                </c:pt>
                <c:pt idx="5">
                  <c:v>-0.28000000000000003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392B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03-4ADC-965F-DABFEC90E6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UncDensity  (βᵤₙᶜ, /10)</c:v>
                </c:pt>
              </c:strCache>
            </c:strRef>
          </c:tx>
          <c:spPr>
            <a:solidFill>
              <a:srgbClr val="4A4A49"/>
            </a:solidFill>
            <a:ln>
              <a:noFill/>
            </a:ln>
          </c:spPr>
          <c:invertIfNegative val="1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-0.1</c:v>
                </c:pt>
                <c:pt idx="1">
                  <c:v>-0.11</c:v>
                </c:pt>
                <c:pt idx="2">
                  <c:v>-0.13</c:v>
                </c:pt>
                <c:pt idx="3">
                  <c:v>-0.09</c:v>
                </c:pt>
                <c:pt idx="4">
                  <c:v>-0.06</c:v>
                </c:pt>
                <c:pt idx="5">
                  <c:v>-0.04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595959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03-4ADC-965F-DABFEC90E6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high"/>
        <c:txPr>
          <a:bodyPr rot="0" vert="horz" anchor="ctr" anchorCtr="0"/>
          <a:lstStyle/>
          <a:p>
            <a:pPr>
              <a:defRPr sz="1000" b="1">
                <a:solidFill>
                  <a:schemeClr val="tx1"/>
                </a:solidFill>
                <a:latin typeface="Arial"/>
              </a:defRPr>
            </a:pPr>
            <a:endParaRPr lang="cs-CZ"/>
          </a:p>
        </c:txPr>
        <c:crossAx val="-2113994440"/>
        <c:crossesAt val="0"/>
        <c:auto val="0"/>
        <c:lblAlgn val="ctr"/>
        <c:lblOffset val="100"/>
        <c:noMultiLvlLbl val="0"/>
      </c:catAx>
      <c:valAx>
        <c:axId val="-2113994440"/>
        <c:scaling>
          <c:orientation val="minMax"/>
          <c:max val="0.25"/>
          <c:min val="-0.75"/>
        </c:scaling>
        <c:delete val="0"/>
        <c:axPos val="l"/>
        <c:numFmt formatCode="0.00" sourceLinked="0"/>
        <c:majorTickMark val="none"/>
        <c:minorTickMark val="none"/>
        <c:tickLblPos val="nextTo"/>
        <c:spPr>
          <a:ln/>
        </c:spPr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  <a:endParaRPr lang="cs-CZ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β  (h = 30 d)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</c:spPr>
          <c:invertIfNegative val="1"/>
          <c:dPt>
            <c:idx val="1"/>
            <c:invertIfNegative val="0"/>
            <c:bubble3D val="0"/>
            <c:spPr>
              <a:solidFill>
                <a:srgbClr val="4A4A4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03E-4A89-9CDA-3DBF00F5985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4A4A49"/>
                    </a:solidFill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LM-Litigious  (βₗᵢₜ)</c:v>
                </c:pt>
                <c:pt idx="1">
                  <c:v>LM-Uncertainty  (βᵤₙᶜ)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-6.16</c:v>
                </c:pt>
                <c:pt idx="1">
                  <c:v>-1.28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03E-4A89-9CDA-3DBF00F598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-8"/>
        </c:scaling>
        <c:delete val="0"/>
        <c:axPos val="b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ln(Words₁ₐ)</c:v>
                </c:pt>
              </c:strCache>
            </c:strRef>
          </c:tx>
          <c:spPr>
            <a:ln w="31750">
              <a:solidFill>
                <a:srgbClr val="00988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8.3000000000000007</c:v>
                </c:pt>
                <c:pt idx="1">
                  <c:v>8.1</c:v>
                </c:pt>
                <c:pt idx="2">
                  <c:v>7.64</c:v>
                </c:pt>
                <c:pt idx="3">
                  <c:v>6.2</c:v>
                </c:pt>
                <c:pt idx="4">
                  <c:v>5.0999999999999996</c:v>
                </c:pt>
                <c:pt idx="5">
                  <c:v>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F5-44C9-92F9-8283F61468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LitDensity</c:v>
                </c:pt>
              </c:strCache>
            </c:strRef>
          </c:tx>
          <c:spPr>
            <a:ln w="31750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-1.95</c:v>
                </c:pt>
                <c:pt idx="1">
                  <c:v>-2.88</c:v>
                </c:pt>
                <c:pt idx="2">
                  <c:v>-3.38</c:v>
                </c:pt>
                <c:pt idx="3">
                  <c:v>-3.72</c:v>
                </c:pt>
                <c:pt idx="4">
                  <c:v>-4.0199999999999996</c:v>
                </c:pt>
                <c:pt idx="5">
                  <c:v>-3.1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F5-44C9-92F9-8283F61468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UncDensity</c:v>
                </c:pt>
              </c:strCache>
            </c:strRef>
          </c:tx>
          <c:spPr>
            <a:ln w="31750">
              <a:solidFill>
                <a:srgbClr val="4A4A4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-0.4</c:v>
                </c:pt>
                <c:pt idx="1">
                  <c:v>-0.55000000000000004</c:v>
                </c:pt>
                <c:pt idx="2">
                  <c:v>-1.01</c:v>
                </c:pt>
                <c:pt idx="3">
                  <c:v>-1.1000000000000001</c:v>
                </c:pt>
                <c:pt idx="4">
                  <c:v>-0.95</c:v>
                </c:pt>
                <c:pt idx="5">
                  <c:v>-0.7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F5-44C9-92F9-8283F6146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"/>
          <c:min val="-5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  <a:endParaRPr lang="cs-CZ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2389DD16-FB00-4D9A-B48C-50050FDDC1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838009" y="933549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6BBD7AF0-0104-49C6-B49F-55B685879E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38009" y="1245177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6609EC98-6EA4-4C3E-A04D-5D810F2A42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8DECF7AF-89F1-4012-9B20-327F67C10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727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4055"/>
            <a:ext cx="7779544" cy="449337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53072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12830"/>
            <a:ext cx="78867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8512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4"/>
            <a:ext cx="3887391" cy="38512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58343424"/>
              </p:ext>
            </p:extLst>
          </p:nvPr>
        </p:nvGraphicFramePr>
        <p:xfrm>
          <a:off x="628652" y="1990725"/>
          <a:ext cx="7779543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60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9251074"/>
              </p:ext>
            </p:extLst>
          </p:nvPr>
        </p:nvGraphicFramePr>
        <p:xfrm>
          <a:off x="731521" y="2152650"/>
          <a:ext cx="7581899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25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857699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9266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719039ED-503B-4BFC-8729-F0E04FD071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97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1664D167-1933-44B8-9DE6-BCF4B4ADB8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125" y="8313"/>
            <a:ext cx="9148126" cy="6858000"/>
          </a:xfrm>
          <a:prstGeom prst="rect">
            <a:avLst/>
          </a:prstGeom>
        </p:spPr>
      </p:pic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D89BE277-1B57-4A04-A616-0D6719FD6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6539" y="360307"/>
            <a:ext cx="179594" cy="179594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3CE1673A-F13A-49C1-A0F3-7628437F7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84010" y="360307"/>
            <a:ext cx="179594" cy="179594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24055"/>
            <a:ext cx="7779544" cy="4191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28.05.2026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25530" y="6356355"/>
            <a:ext cx="1982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8815389" y="6436824"/>
            <a:ext cx="416717" cy="452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1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6722748" y="299366"/>
            <a:ext cx="963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7851988" y="299366"/>
            <a:ext cx="1195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72" r:id="rId7"/>
    <p:sldLayoutId id="2147483669" r:id="rId8"/>
    <p:sldLayoutId id="2147483673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10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>
          <a:xfrm>
            <a:off x="5836229" y="750959"/>
            <a:ext cx="3718906" cy="1840132"/>
          </a:xfrm>
        </p:spPr>
        <p:txBody>
          <a:bodyPr>
            <a:normAutofit/>
          </a:bodyPr>
          <a:lstStyle/>
          <a:p>
            <a:pPr algn="l"/>
            <a:r>
              <a:rPr sz="1500" b="1" i="0" dirty="0">
                <a:solidFill>
                  <a:srgbClr val="4A4A49"/>
                </a:solidFill>
                <a:latin typeface="Arial"/>
              </a:rPr>
              <a:t>Šimon Slanský</a:t>
            </a:r>
          </a:p>
          <a:p>
            <a:pPr algn="l"/>
            <a:r>
              <a:rPr sz="1100" b="0" i="0" dirty="0" err="1">
                <a:solidFill>
                  <a:srgbClr val="4A4A49"/>
                </a:solidFill>
                <a:latin typeface="Arial"/>
              </a:rPr>
              <a:t>Vedoucí</a:t>
            </a:r>
            <a:r>
              <a:rPr sz="1100" b="0" i="0" dirty="0">
                <a:solidFill>
                  <a:srgbClr val="4A4A49"/>
                </a:solidFill>
                <a:latin typeface="Arial"/>
              </a:rPr>
              <a:t>: prof. </a:t>
            </a:r>
            <a:r>
              <a:rPr sz="1100" b="0" i="0" dirty="0" err="1">
                <a:solidFill>
                  <a:srgbClr val="4A4A49"/>
                </a:solidFill>
                <a:latin typeface="Arial"/>
              </a:rPr>
              <a:t>RNDr</a:t>
            </a:r>
            <a:r>
              <a:rPr sz="1100" b="0" i="0" dirty="0">
                <a:solidFill>
                  <a:srgbClr val="4A4A49"/>
                </a:solidFill>
                <a:latin typeface="Arial"/>
              </a:rPr>
              <a:t>. Ing. Michal Černý, Ph.D.</a:t>
            </a:r>
            <a:endParaRPr lang="en-US" sz="1100" b="0" i="0" dirty="0">
              <a:solidFill>
                <a:srgbClr val="4A4A49"/>
              </a:solidFill>
              <a:latin typeface="Arial"/>
            </a:endParaRPr>
          </a:p>
          <a:p>
            <a:pPr algn="l"/>
            <a:r>
              <a:rPr lang="cs-CZ" sz="1100" b="0" dirty="0">
                <a:solidFill>
                  <a:srgbClr val="4A4A49"/>
                </a:solidFill>
                <a:latin typeface="Arial"/>
              </a:rPr>
              <a:t>VŠE · Fakulta informatiky a statistiky</a:t>
            </a:r>
          </a:p>
          <a:p>
            <a:pPr algn="l"/>
            <a:endParaRPr lang="cs-CZ" sz="1100" b="0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3200" b="1" dirty="0" err="1">
                <a:latin typeface="Arial"/>
              </a:rPr>
              <a:t>Dekompozice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jazyka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rizikových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faktorů</a:t>
            </a:r>
            <a:r>
              <a:rPr sz="3200" b="1" dirty="0">
                <a:latin typeface="Arial"/>
              </a:rPr>
              <a:t>
v 10-K </a:t>
            </a:r>
            <a:r>
              <a:rPr sz="3200" b="1" dirty="0" err="1">
                <a:latin typeface="Arial"/>
              </a:rPr>
              <a:t>výkazech</a:t>
            </a:r>
            <a:r>
              <a:rPr sz="3200" b="1" dirty="0">
                <a:latin typeface="Arial"/>
              </a:rPr>
              <a:t> a </a:t>
            </a:r>
            <a:r>
              <a:rPr sz="3200" b="1" dirty="0" err="1">
                <a:latin typeface="Arial"/>
              </a:rPr>
              <a:t>následná</a:t>
            </a:r>
            <a:r>
              <a:rPr sz="3200" b="1" dirty="0">
                <a:latin typeface="Arial"/>
              </a:rPr>
              <a:t>
</a:t>
            </a:r>
            <a:r>
              <a:rPr sz="3200" b="1" dirty="0" err="1">
                <a:latin typeface="Arial"/>
              </a:rPr>
              <a:t>volatilita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akciových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výnosů</a:t>
            </a:r>
            <a:endParaRPr sz="3200" b="1" dirty="0">
              <a:latin typeface="Arial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</a:t>
            </a:r>
            <a:r>
              <a:rPr dirty="0" err="1"/>
              <a:t>akalářský</a:t>
            </a:r>
            <a:r>
              <a:rPr dirty="0"/>
              <a:t> </a:t>
            </a:r>
            <a:r>
              <a:rPr dirty="0" err="1"/>
              <a:t>seminář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 dirty="0" err="1">
                <a:solidFill>
                  <a:srgbClr val="4A4A49"/>
                </a:solidFill>
                <a:latin typeface="Arial"/>
              </a:rPr>
              <a:t>Motivace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—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dvě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protichůdné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literatury</a:t>
            </a:r>
            <a:endParaRPr sz="2200" b="1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692000"/>
            <a:ext cx="810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4A49"/>
                </a:solidFill>
                <a:latin typeface="Arial"/>
              </a:rPr>
              <a:t>Item 1A (Risk Factors) je předmětem dvou paralelních literatur, které předpovídají efekty v opačných směrech.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196000"/>
            <a:ext cx="2951999" cy="201599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432000" rIns="90000" bIns="54000" rtlCol="0" anchor="t"/>
          <a:lstStyle/>
          <a:p>
            <a:pPr algn="ctr"/>
            <a:r>
              <a:rPr sz="1000" b="1" i="0">
                <a:solidFill>
                  <a:srgbClr val="009881"/>
                </a:solidFill>
                <a:latin typeface="Arial"/>
              </a:rPr>
              <a:t>VOLUME channel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4A4A49"/>
                </a:solidFill>
                <a:latin typeface="Arial"/>
              </a:rPr>
              <a:t>↑ délka Item 1A</a:t>
            </a:r>
          </a:p>
          <a:p>
            <a:pPr algn="ctr">
              <a:spcBef>
                <a:spcPts val="400"/>
              </a:spcBef>
            </a:pPr>
            <a:r>
              <a:rPr sz="1200" b="0" i="1">
                <a:solidFill>
                  <a:srgbClr val="2B2B2B"/>
                </a:solidFill>
                <a:latin typeface="Arial"/>
              </a:rPr>
              <a:t>→ vyšší následná volatilita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196000"/>
            <a:ext cx="2951999" cy="36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Campbell et al. (2014)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1" y="2196000"/>
            <a:ext cx="2951999" cy="201599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432000" rIns="90000" bIns="54000" rtlCol="0" anchor="t"/>
          <a:lstStyle/>
          <a:p>
            <a:pPr algn="ctr"/>
            <a:r>
              <a:rPr sz="1000" b="1" i="0">
                <a:solidFill>
                  <a:srgbClr val="4A4A49"/>
                </a:solidFill>
                <a:latin typeface="Arial"/>
              </a:rPr>
              <a:t>SPECIFICITY channel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4A4A49"/>
                </a:solidFill>
                <a:latin typeface="Arial"/>
              </a:rPr>
              <a:t>↑ specifičnost</a:t>
            </a:r>
          </a:p>
          <a:p>
            <a:pPr algn="ctr">
              <a:spcBef>
                <a:spcPts val="400"/>
              </a:spcBef>
            </a:pPr>
            <a:r>
              <a:rPr sz="1200" b="0" i="1">
                <a:solidFill>
                  <a:srgbClr val="2B2B2B"/>
                </a:solidFill>
                <a:latin typeface="Arial"/>
              </a:rPr>
              <a:t>→ nižší následná volatilita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1" y="2196000"/>
            <a:ext cx="2951999" cy="36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Hope et al. (2016)</a:t>
            </a:r>
          </a:p>
        </p:txBody>
      </p:sp>
      <p:sp>
        <p:nvSpPr>
          <p:cNvPr id="11" name="Oval 10"/>
          <p:cNvSpPr/>
          <p:nvPr/>
        </p:nvSpPr>
        <p:spPr>
          <a:xfrm>
            <a:off x="3744000" y="2699999"/>
            <a:ext cx="1655999" cy="1007999"/>
          </a:xfrm>
          <a:prstGeom prst="ellipse">
            <a:avLst/>
          </a:prstGeom>
          <a:solidFill>
            <a:srgbClr val="CCEBE6"/>
          </a:solidFill>
          <a:ln w="9525">
            <a:solidFill>
              <a:srgbClr val="0098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600" b="1" i="1" dirty="0">
                <a:solidFill>
                  <a:srgbClr val="009881"/>
                </a:solidFill>
                <a:latin typeface="Cambria Math"/>
              </a:rPr>
              <a:t>σₚₒₛₜ</a:t>
            </a:r>
            <a:r>
              <a:rPr lang="en-US" sz="1600" b="1" i="1" baseline="-25000" dirty="0">
                <a:solidFill>
                  <a:srgbClr val="009881"/>
                </a:solidFill>
                <a:latin typeface="Cambria Math"/>
              </a:rPr>
              <a:t>-filling</a:t>
            </a:r>
            <a:endParaRPr sz="1600" b="1" i="1" dirty="0">
              <a:solidFill>
                <a:srgbClr val="009881"/>
              </a:solidFill>
              <a:latin typeface="Cambria Math"/>
            </a:endParaRPr>
          </a:p>
          <a:p>
            <a:pPr algn="ctr">
              <a:spcBef>
                <a:spcPts val="200"/>
              </a:spcBef>
            </a:pPr>
            <a:r>
              <a:rPr sz="900" b="0" i="0" dirty="0">
                <a:solidFill>
                  <a:srgbClr val="4A4A49"/>
                </a:solidFill>
                <a:latin typeface="Arial"/>
              </a:rPr>
              <a:t>post-filing </a:t>
            </a:r>
            <a:r>
              <a:rPr sz="900" b="0" i="0" dirty="0" err="1">
                <a:solidFill>
                  <a:srgbClr val="4A4A49"/>
                </a:solidFill>
                <a:latin typeface="Arial"/>
              </a:rPr>
              <a:t>volatilita</a:t>
            </a:r>
            <a:endParaRPr sz="1000" b="0" i="0" dirty="0">
              <a:solidFill>
                <a:srgbClr val="4A4A49"/>
              </a:solidFill>
              <a:latin typeface="Arial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383999" y="3203999"/>
            <a:ext cx="360001" cy="0"/>
          </a:xfrm>
          <a:prstGeom prst="line">
            <a:avLst/>
          </a:prstGeom>
          <a:ln w="31750">
            <a:solidFill>
              <a:srgbClr val="0098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399999" y="3203999"/>
            <a:ext cx="360002" cy="0"/>
          </a:xfrm>
          <a:prstGeom prst="line">
            <a:avLst/>
          </a:prstGeom>
          <a:ln w="3175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2000" y="4680000"/>
            <a:ext cx="64800" cy="72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6800" y="4680000"/>
            <a:ext cx="8035200" cy="720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200" b="1" i="0" dirty="0">
                <a:solidFill>
                  <a:srgbClr val="4A4A49"/>
                </a:solidFill>
                <a:latin typeface="Arial"/>
              </a:rPr>
              <a:t>Tato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práce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odděluje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OBJEM a SPECIFIČNOST v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jedné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regresi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a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doplňuje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třetí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kanál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— co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firma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vůči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lang="en-US" sz="1200" b="1" i="0" dirty="0">
                <a:solidFill>
                  <a:srgbClr val="4A4A49"/>
                </a:solidFill>
                <a:latin typeface="Arial"/>
              </a:rPr>
              <a:t>firm</a:t>
            </a:r>
            <a:r>
              <a:rPr lang="cs-CZ" sz="1200" b="1" i="0" dirty="0" err="1">
                <a:solidFill>
                  <a:srgbClr val="4A4A49"/>
                </a:solidFill>
                <a:latin typeface="Arial"/>
              </a:rPr>
              <a:t>ám</a:t>
            </a:r>
            <a:r>
              <a:rPr lang="cs-CZ" sz="1200" b="1" i="0" dirty="0">
                <a:solidFill>
                  <a:srgbClr val="4A4A49"/>
                </a:solidFill>
                <a:latin typeface="Arial"/>
              </a:rPr>
              <a:t> na </a:t>
            </a:r>
            <a:r>
              <a:rPr lang="cs-CZ" sz="1200" b="1" i="0" dirty="0" err="1">
                <a:solidFill>
                  <a:srgbClr val="4A4A49"/>
                </a:solidFill>
                <a:latin typeface="Arial"/>
              </a:rPr>
              <a:t>podovné</a:t>
            </a:r>
            <a:r>
              <a:rPr lang="cs-CZ" sz="1200" b="1" i="0" dirty="0">
                <a:solidFill>
                  <a:srgbClr val="4A4A49"/>
                </a:solidFill>
                <a:latin typeface="Arial"/>
              </a:rPr>
              <a:t> úrovni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VYNECHÁ.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Hypotézy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45719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728000"/>
            <a:ext cx="2592000" cy="262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540000" rIns="180000" bIns="54000" rtlCol="0" anchor="t"/>
          <a:lstStyle/>
          <a:p>
            <a:pPr algn="ctr"/>
            <a:r>
              <a:rPr sz="1100" b="1" i="0">
                <a:solidFill>
                  <a:srgbClr val="009881"/>
                </a:solidFill>
                <a:latin typeface="Arial"/>
              </a:rPr>
              <a:t>OBJEM</a:t>
            </a:r>
          </a:p>
          <a:p>
            <a:pPr algn="ctr">
              <a:spcBef>
                <a:spcPts val="400"/>
              </a:spcBef>
            </a:pPr>
            <a:r>
              <a:rPr sz="4600" b="1" i="0">
                <a:solidFill>
                  <a:srgbClr val="4A4A49"/>
                </a:solidFill>
                <a:latin typeface="Arial"/>
              </a:rPr>
              <a:t>↑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Delší Item 1A → vyšší následná volatilita.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728000"/>
            <a:ext cx="2592000" cy="327878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6000" y="1728000"/>
            <a:ext cx="2592000" cy="262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540000" rIns="180000" bIns="54000" rtlCol="0" anchor="t"/>
          <a:lstStyle/>
          <a:p>
            <a:pPr algn="ctr"/>
            <a:r>
              <a:rPr sz="1100" b="1" i="0">
                <a:solidFill>
                  <a:srgbClr val="009881"/>
                </a:solidFill>
                <a:latin typeface="Arial"/>
              </a:rPr>
              <a:t>SPECIFIČNOST</a:t>
            </a:r>
          </a:p>
          <a:p>
            <a:pPr algn="ctr">
              <a:spcBef>
                <a:spcPts val="400"/>
              </a:spcBef>
            </a:pPr>
            <a:r>
              <a:rPr sz="4600" b="1" i="0">
                <a:solidFill>
                  <a:srgbClr val="4A4A49"/>
                </a:solidFill>
                <a:latin typeface="Arial"/>
              </a:rPr>
              <a:t>↓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Vyšší hustota rizikových slov při kontrole délky → nižší volatilita.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000" y="1728000"/>
            <a:ext cx="2592000" cy="327878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2000" y="1728000"/>
            <a:ext cx="2592000" cy="262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540000" rIns="180000" bIns="54000" rtlCol="0" anchor="t"/>
          <a:lstStyle/>
          <a:p>
            <a:pPr algn="ctr"/>
            <a:r>
              <a:rPr sz="1100" b="1" i="0" dirty="0">
                <a:solidFill>
                  <a:srgbClr val="009881"/>
                </a:solidFill>
                <a:latin typeface="Arial"/>
              </a:rPr>
              <a:t>MLČENÍ</a:t>
            </a:r>
          </a:p>
          <a:p>
            <a:pPr algn="ctr">
              <a:spcBef>
                <a:spcPts val="400"/>
              </a:spcBef>
            </a:pPr>
            <a:r>
              <a:rPr sz="4600" b="1" i="0" dirty="0">
                <a:solidFill>
                  <a:srgbClr val="4A4A49"/>
                </a:solidFill>
                <a:latin typeface="Arial"/>
              </a:rPr>
              <a:t>↑</a:t>
            </a:r>
          </a:p>
          <a:p>
            <a:pPr algn="ctr">
              <a:spcBef>
                <a:spcPts val="600"/>
              </a:spcBef>
            </a:pPr>
            <a:r>
              <a:rPr sz="1200" b="0" i="0" dirty="0" err="1">
                <a:solidFill>
                  <a:srgbClr val="2B2B2B"/>
                </a:solidFill>
                <a:latin typeface="Arial"/>
              </a:rPr>
              <a:t>Větší</a:t>
            </a:r>
            <a:r>
              <a:rPr sz="1200" b="0" i="0" dirty="0">
                <a:solidFill>
                  <a:srgbClr val="2B2B2B"/>
                </a:solidFill>
                <a:latin typeface="Arial"/>
              </a:rPr>
              <a:t> peer-</a:t>
            </a:r>
            <a:r>
              <a:rPr sz="1200" b="0" i="0" dirty="0" err="1">
                <a:solidFill>
                  <a:srgbClr val="2B2B2B"/>
                </a:solidFill>
                <a:latin typeface="Arial"/>
              </a:rPr>
              <a:t>relativní</a:t>
            </a:r>
            <a:r>
              <a:rPr sz="12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Arial"/>
              </a:rPr>
              <a:t>opomenutí</a:t>
            </a:r>
            <a:r>
              <a:rPr sz="12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Arial"/>
              </a:rPr>
              <a:t>témat</a:t>
            </a:r>
            <a:r>
              <a:rPr sz="1200" b="0" i="0" dirty="0">
                <a:solidFill>
                  <a:srgbClr val="2B2B2B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2B2B2B"/>
                </a:solidFill>
                <a:latin typeface="Arial"/>
              </a:rPr>
              <a:t>vyšší</a:t>
            </a:r>
            <a:r>
              <a:rPr sz="12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Arial"/>
              </a:rPr>
              <a:t>volatilita</a:t>
            </a:r>
            <a:r>
              <a:rPr sz="1200" b="0" i="0" dirty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2000" y="1728000"/>
            <a:ext cx="2592000" cy="327878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328000"/>
            <a:ext cx="64800" cy="503999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6800" y="5328000"/>
            <a:ext cx="8035200" cy="503999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Druhý stupeň H2: efekt nese LM-Litigious sub-list, nikoli LM-Uncertainty.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Data —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4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7000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535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firem (S&amp;P 1500, nefinanční)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0999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2010–2024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fiskálních let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4998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~5 700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firma-let (h = 30 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8997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93,5 %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LLM-audit Pass + Minor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999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Seznam 10-K
2010–2024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99" y="3456001"/>
            <a:ext cx="1440000" cy="39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 EDGAR
Submissions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1999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141999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Finanční metriky
+ tag locking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1999" y="3456001"/>
            <a:ext cx="1440000" cy="39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XBRL Company
Facts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1999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51999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Texty 10-K
+ Exhibit 13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51999" y="3456001"/>
            <a:ext cx="1440000" cy="396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HTML parser
(Item 1A / 7)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91999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61999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Word counts &amp;
densities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1999" y="3456001"/>
            <a:ext cx="1440000" cy="396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LM slovník
(Unc + Lit)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01999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71999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ln σᵢ,ₜ₊₁ᴴ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1999" y="3456001"/>
            <a:ext cx="1440000" cy="39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yfinance +
post-filing okna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1999" y="4752001"/>
            <a:ext cx="3600000" cy="503999"/>
          </a:xfrm>
          <a:prstGeom prst="rect">
            <a:avLst/>
          </a:prstGeom>
          <a:solidFill>
            <a:srgbClr val="CCEBE6"/>
          </a:solidFill>
          <a:ln w="9525">
            <a:solidFill>
              <a:srgbClr val="0098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200" b="1" i="0">
                <a:solidFill>
                  <a:srgbClr val="4A4A49"/>
                </a:solidFill>
                <a:latin typeface="Arial"/>
              </a:rPr>
              <a:t>Panel:  535 firem × 15 let × textové + finanční proměnné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1999" y="4392001"/>
            <a:ext cx="0" cy="36000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Metodologie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692000"/>
            <a:ext cx="8100000" cy="864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54000" rIns="216000" bIns="54000" rtlCol="0" anchor="ctr"/>
          <a:lstStyle/>
          <a:p>
            <a:pPr algn="l"/>
            <a:r>
              <a:rPr sz="1100" b="1" i="0">
                <a:solidFill>
                  <a:srgbClr val="009881"/>
                </a:solidFill>
                <a:latin typeface="Arial"/>
              </a:rPr>
              <a:t>Společný model H1 + H2</a:t>
            </a:r>
          </a:p>
          <a:p>
            <a:pPr algn="ctr">
              <a:spcBef>
                <a:spcPts val="400"/>
              </a:spcBef>
            </a:pPr>
            <a:r>
              <a:rPr sz="1300" b="0" i="1">
                <a:solidFill>
                  <a:srgbClr val="4A4A49"/>
                </a:solidFill>
                <a:latin typeface="Cambria Math"/>
              </a:rPr>
              <a:t>ln σᵢ,ₜ₊₁ᴴ  =  α + φ · ln σᵢ,ₜᴴ + β′·Xᶠᵢⁿ  +  βₗₑₙ · ln(Words₁ₐ)  +  βᵈₑₙₛ · RiskDensity  +  μⱼ + τₜ + ε</a:t>
            </a:r>
          </a:p>
        </p:txBody>
      </p:sp>
      <p:sp>
        <p:nvSpPr>
          <p:cNvPr id="7" name="Rectangle 6"/>
          <p:cNvSpPr/>
          <p:nvPr/>
        </p:nvSpPr>
        <p:spPr>
          <a:xfrm>
            <a:off x="522000" y="2736000"/>
            <a:ext cx="396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2000" y="2736000"/>
            <a:ext cx="1260000" cy="1224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Cambria Math"/>
              </a:rPr>
              <a:t>βₗₑₙ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0000" y="2916000"/>
            <a:ext cx="2520000" cy="864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400" b="1" i="0">
                <a:solidFill>
                  <a:srgbClr val="4A4A49"/>
                </a:solidFill>
                <a:latin typeface="Arial"/>
              </a:rPr>
              <a:t>log délka Item 1A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009881"/>
                </a:solidFill>
                <a:latin typeface="Arial"/>
              </a:rPr>
              <a:t>H1 — objem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2000" y="2736000"/>
            <a:ext cx="396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2000" y="2736000"/>
            <a:ext cx="1260000" cy="1224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 dirty="0">
                <a:solidFill>
                  <a:srgbClr val="FFFFFF"/>
                </a:solidFill>
                <a:latin typeface="Cambria Math"/>
              </a:rPr>
              <a:t>β</a:t>
            </a:r>
            <a:r>
              <a:rPr lang="cs-CZ" sz="2000" b="1" i="1" baseline="-25000" dirty="0" err="1">
                <a:solidFill>
                  <a:srgbClr val="FFFFFF"/>
                </a:solidFill>
                <a:latin typeface="Cambria Math"/>
              </a:rPr>
              <a:t>dens</a:t>
            </a:r>
            <a:endParaRPr sz="2000" b="1" i="1" dirty="0">
              <a:solidFill>
                <a:srgbClr val="FFFFFF"/>
              </a:solidFill>
              <a:latin typeface="Cambria Mat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0000" y="2916000"/>
            <a:ext cx="2520000" cy="864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400" b="1" i="0">
                <a:solidFill>
                  <a:srgbClr val="4A4A49"/>
                </a:solidFill>
                <a:latin typeface="Arial"/>
              </a:rPr>
              <a:t>RiskDensity (LM)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4A4A49"/>
                </a:solidFill>
                <a:latin typeface="Arial"/>
              </a:rPr>
              <a:t>H2 — specifičnost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000" y="4104000"/>
            <a:ext cx="396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2000" y="4104000"/>
            <a:ext cx="1260000" cy="1224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i="1" dirty="0">
                <a:solidFill>
                  <a:srgbClr val="FFFFFF"/>
                </a:solidFill>
                <a:latin typeface="Cambria Math"/>
              </a:rPr>
              <a:t>Β</a:t>
            </a:r>
            <a:r>
              <a:rPr lang="cs-CZ" sz="2000" b="1" i="1" baseline="-25000" dirty="0" err="1">
                <a:solidFill>
                  <a:srgbClr val="FFFFFF"/>
                </a:solidFill>
                <a:latin typeface="Cambria Math"/>
              </a:rPr>
              <a:t>unc</a:t>
            </a:r>
            <a:r>
              <a:rPr lang="cs-CZ" sz="2000" b="1" i="1" baseline="-25000" dirty="0">
                <a:solidFill>
                  <a:srgbClr val="FFFFFF"/>
                </a:solidFill>
                <a:latin typeface="Cambria Math"/>
              </a:rPr>
              <a:t> </a:t>
            </a:r>
            <a:r>
              <a:rPr lang="cs-CZ" sz="2000" b="1" i="1" dirty="0">
                <a:solidFill>
                  <a:srgbClr val="FFFFFF"/>
                </a:solidFill>
                <a:latin typeface="Cambria Math"/>
              </a:rPr>
              <a:t>+</a:t>
            </a:r>
            <a:r>
              <a:rPr sz="2000" b="1" i="1" dirty="0">
                <a:solidFill>
                  <a:srgbClr val="FFFFFF"/>
                </a:solidFill>
                <a:latin typeface="Cambria Math"/>
              </a:rPr>
              <a:t> βₗᵢₜ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0000" y="4284000"/>
            <a:ext cx="2520000" cy="864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400" b="1" i="0">
                <a:solidFill>
                  <a:srgbClr val="4A4A49"/>
                </a:solidFill>
                <a:latin typeface="Arial"/>
              </a:rPr>
              <a:t>Dekompozice LM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009881"/>
                </a:solidFill>
                <a:latin typeface="Arial"/>
              </a:rPr>
              <a:t>Druhý stupeň H2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2000" y="4104000"/>
            <a:ext cx="396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2000" y="4104000"/>
            <a:ext cx="1260000" cy="1224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Cambria Math"/>
              </a:rPr>
              <a:t>βₒₘ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0000" y="4284000"/>
            <a:ext cx="2520000" cy="864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400" b="1" i="0">
                <a:solidFill>
                  <a:srgbClr val="4A4A49"/>
                </a:solidFill>
                <a:latin typeface="Arial"/>
              </a:rPr>
              <a:t>Omission₁ₐ vůči peerům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4A4A49"/>
                </a:solidFill>
                <a:latin typeface="Arial"/>
              </a:rPr>
              <a:t>H3 — strategické mlčení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5472000"/>
            <a:ext cx="81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A4A49"/>
                </a:solidFill>
                <a:latin typeface="Arial"/>
              </a:rPr>
              <a:t>OLS · FE (odvětví/firma + rok) · SE klastrované dvouvrstvě (firma, rok) · predikční čtení.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Výsledky — koeficienty napříč horizonty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6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000" y="1692000"/>
            <a:ext cx="2556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000" b="1" i="0" dirty="0">
                <a:solidFill>
                  <a:srgbClr val="009881"/>
                </a:solidFill>
                <a:latin typeface="Arial"/>
              </a:rPr>
              <a:t>β</a:t>
            </a:r>
            <a:r>
              <a:rPr lang="cs-CZ" sz="2000" b="1" i="0" baseline="-25000" dirty="0">
                <a:solidFill>
                  <a:srgbClr val="009881"/>
                </a:solidFill>
                <a:latin typeface="Arial"/>
              </a:rPr>
              <a:t>len</a:t>
            </a:r>
            <a:r>
              <a:rPr sz="2000" b="1" i="0" dirty="0">
                <a:solidFill>
                  <a:srgbClr val="009881"/>
                </a:solidFill>
                <a:latin typeface="Arial"/>
              </a:rPr>
              <a:t> = +0,121</a:t>
            </a:r>
          </a:p>
          <a:p>
            <a:pPr algn="ctr">
              <a:spcBef>
                <a:spcPts val="200"/>
              </a:spcBef>
            </a:pPr>
            <a:r>
              <a:rPr sz="1000" b="0" i="0" dirty="0">
                <a:solidFill>
                  <a:srgbClr val="4A4A49"/>
                </a:solidFill>
                <a:latin typeface="Arial"/>
              </a:rPr>
              <a:t>t = +7,64   ·   H1 </a:t>
            </a:r>
            <a:r>
              <a:rPr sz="1000" b="0" i="0" dirty="0" err="1">
                <a:solidFill>
                  <a:srgbClr val="4A4A49"/>
                </a:solidFill>
                <a:latin typeface="Arial"/>
              </a:rPr>
              <a:t>podpořeno</a:t>
            </a:r>
            <a:endParaRPr sz="1000" b="0" i="0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94000" y="1692000"/>
            <a:ext cx="2556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000" b="1" i="0" dirty="0">
                <a:solidFill>
                  <a:srgbClr val="C0392B"/>
                </a:solidFill>
                <a:latin typeface="Arial"/>
              </a:rPr>
              <a:t>β</a:t>
            </a:r>
            <a:r>
              <a:rPr lang="cs-CZ" sz="2000" b="1" i="0" baseline="-25000" dirty="0" err="1">
                <a:solidFill>
                  <a:srgbClr val="C0392B"/>
                </a:solidFill>
                <a:latin typeface="Arial"/>
              </a:rPr>
              <a:t>dens</a:t>
            </a:r>
            <a:r>
              <a:rPr sz="2000" b="1" i="0" dirty="0">
                <a:solidFill>
                  <a:srgbClr val="C0392B"/>
                </a:solidFill>
                <a:latin typeface="Arial"/>
              </a:rPr>
              <a:t> = −3,88</a:t>
            </a:r>
          </a:p>
          <a:p>
            <a:pPr algn="ctr">
              <a:spcBef>
                <a:spcPts val="200"/>
              </a:spcBef>
            </a:pPr>
            <a:r>
              <a:rPr sz="1000" b="0" i="0" dirty="0">
                <a:solidFill>
                  <a:srgbClr val="4A4A49"/>
                </a:solidFill>
                <a:latin typeface="Arial"/>
              </a:rPr>
              <a:t>t = −2,68   ·   H2 </a:t>
            </a:r>
            <a:r>
              <a:rPr sz="1000" b="0" i="0" dirty="0" err="1">
                <a:solidFill>
                  <a:srgbClr val="4A4A49"/>
                </a:solidFill>
                <a:latin typeface="Arial"/>
              </a:rPr>
              <a:t>podpořeno</a:t>
            </a:r>
            <a:endParaRPr sz="1000" b="0" i="0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94000" y="1692000"/>
            <a:ext cx="2556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000" b="1" i="0">
                <a:solidFill>
                  <a:srgbClr val="4A4A49"/>
                </a:solidFill>
                <a:latin typeface="Arial"/>
              </a:rPr>
              <a:t>n = 5 691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firma-let   ·   h = 30 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807902"/>
              </p:ext>
            </p:extLst>
          </p:nvPr>
        </p:nvGraphicFramePr>
        <p:xfrm>
          <a:off x="432000" y="2664000"/>
          <a:ext cx="8100000" cy="24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5184000"/>
            <a:ext cx="81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Pozn.: LitDensity a UncDensity škálovány /10 pro vizuální srovnání. Headline horizont h = 30 d; znaménka zachována na všech oknech.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Dekompozice LM slovníku (druhý stupeň H2)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7 / 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2000" y="1728000"/>
          <a:ext cx="486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544000" y="1728000"/>
            <a:ext cx="3348000" cy="151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96000" rIns="90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t = −3,38   ·   p &lt; 0,001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Standardizované právnické výstrahy (safe-harbour boilerplate) nesou CELÝ negativní efekt specifičnosti.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4000" y="1728000"/>
            <a:ext cx="3348000" cy="324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LM-Litigious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4000" y="3456000"/>
            <a:ext cx="3348000" cy="151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96000" rIns="90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t = −1,01   ·   p ≈ 0,31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Hedging neznámého nemá samostatnou sílu po kontrole délky a litigious wording.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4000" y="3456000"/>
            <a:ext cx="3348000" cy="324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LM-Uncertainty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5112000"/>
            <a:ext cx="64800" cy="503999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6800" y="5112000"/>
            <a:ext cx="8035200" cy="503999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Waldův test βᵤₙᶜ = βₗᵢₜ:  z = +1,91 (p = 0,056) — hraniční na 5 %.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Strategické mlčení (H3) — peer-relativní opomenutí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8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728000"/>
            <a:ext cx="4248000" cy="3060000"/>
          </a:xfrm>
          <a:prstGeom prst="rect">
            <a:avLst/>
          </a:prstGeom>
          <a:solidFill>
            <a:srgbClr val="F4F4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00" y="1836000"/>
            <a:ext cx="396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Koncept: peer-relativní opomenutí (Omission₁ₐ)</a:t>
            </a:r>
          </a:p>
        </p:txBody>
      </p:sp>
      <p:sp>
        <p:nvSpPr>
          <p:cNvPr id="8" name="Oval 7"/>
          <p:cNvSpPr/>
          <p:nvPr/>
        </p:nvSpPr>
        <p:spPr>
          <a:xfrm>
            <a:off x="1152000" y="2268000"/>
            <a:ext cx="1512000" cy="1512000"/>
          </a:xfrm>
          <a:prstGeom prst="ellipse">
            <a:avLst/>
          </a:prstGeom>
          <a:solidFill>
            <a:srgbClr val="009881">
              <a:alpha val="40000"/>
            </a:srgbClr>
          </a:solidFill>
          <a:ln w="9525">
            <a:solidFill>
              <a:srgbClr val="0098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052000" y="2268000"/>
            <a:ext cx="1512000" cy="1512000"/>
          </a:xfrm>
          <a:prstGeom prst="ellipse">
            <a:avLst/>
          </a:prstGeom>
          <a:solidFill>
            <a:srgbClr val="4A4A49">
              <a:alpha val="40000"/>
            </a:srgbClr>
          </a:solidFill>
          <a:ln w="9525">
            <a:solidFill>
              <a:srgbClr val="4A4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000" y="2070000"/>
            <a:ext cx="151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9881"/>
                </a:solidFill>
                <a:latin typeface="Arial"/>
              </a:rPr>
              <a:t>Firma (Item 1A)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2000" y="2070000"/>
            <a:ext cx="151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A4A49"/>
                </a:solidFill>
                <a:latin typeface="Arial"/>
              </a:rPr>
              <a:t>Peers (TF–IDF)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3888000"/>
            <a:ext cx="396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2B2B2B"/>
                </a:solidFill>
                <a:latin typeface="Arial"/>
              </a:rPr>
              <a:t>Omission₁ₐ  =  podíl TF–IDF váhy peerů na termínech, které firma NEZMIŇUJE.
Hodnota blízko 1 = firma pokrývá jen malou část toho, o čem píší její konkurenti.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728000"/>
            <a:ext cx="3600000" cy="147599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96000" rIns="90000" bIns="54000" rtlCol="0" anchor="t"/>
          <a:lstStyle/>
          <a:p>
            <a:pPr algn="ctr"/>
            <a:r>
              <a:rPr sz="2400" b="1" i="1">
                <a:solidFill>
                  <a:srgbClr val="4A4A49"/>
                </a:solidFill>
                <a:latin typeface="Cambria Math"/>
              </a:rPr>
              <a:t>βₒₘ ≈ 0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4A4A49"/>
                </a:solidFill>
                <a:latin typeface="Arial"/>
              </a:rPr>
              <a:t>|t| &lt; 1,1   na všech horizontech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1728000"/>
            <a:ext cx="3600000" cy="324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Odvětví + rok 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0" y="3347999"/>
            <a:ext cx="3600000" cy="147599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96000" rIns="90000" bIns="54000" rtlCol="0" anchor="t"/>
          <a:lstStyle/>
          <a:p>
            <a:pPr algn="ctr"/>
            <a:r>
              <a:rPr sz="2400" b="1" i="1">
                <a:solidFill>
                  <a:srgbClr val="009881"/>
                </a:solidFill>
                <a:latin typeface="Cambria Math"/>
              </a:rPr>
              <a:t>βₒₘ = +1,345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4A4A49"/>
                </a:solidFill>
                <a:latin typeface="Arial"/>
              </a:rPr>
              <a:t>t = +2,93   ·   p = 0,003   (h = 30 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0000" y="3347999"/>
            <a:ext cx="3600000" cy="324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Firma + rok FE  (within-firm)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4968000"/>
            <a:ext cx="64800" cy="503999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6800" y="4968000"/>
            <a:ext cx="8035200" cy="503999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+1 within-firm SD (0,054) ≈ +7,3 % na 30denní volatilitě.   Placebo (shuffle peer-cell): |t| ∈ [0,54; 0,90] napříč 5 permutacemi.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Robustnost — t-statistiky napříč horizonty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9 / 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2000" y="1692000"/>
          <a:ext cx="54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976000" y="1692000"/>
            <a:ext cx="2664000" cy="9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90000" rIns="90000" bIns="54000" rtlCol="0" anchor="t"/>
          <a:lstStyle/>
          <a:p>
            <a:pPr algn="l"/>
            <a:r>
              <a:rPr sz="1100" b="1" i="0">
                <a:solidFill>
                  <a:srgbClr val="009881"/>
                </a:solidFill>
                <a:latin typeface="Arial"/>
              </a:rPr>
              <a:t>Pre-COVID vs. COVID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B2B2B"/>
                </a:solidFill>
                <a:latin typeface="Arial"/>
              </a:rPr>
              <a:t>Stejný kvalitativní vzorec v obou podvzorcích.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6000" y="1692000"/>
            <a:ext cx="64800" cy="972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76000" y="2772000"/>
            <a:ext cx="2664000" cy="9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90000" rIns="90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Firemní FE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B2B2B"/>
                </a:solidFill>
                <a:latin typeface="Arial"/>
              </a:rPr>
              <a:t>βₗₑₙ přežívá (+0,084; t = +3,31); sub-density absorbovány.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2772000"/>
            <a:ext cx="64800" cy="972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76000" y="3852000"/>
            <a:ext cx="2664000" cy="9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90000" rIns="90000" bIns="54000" rtlCol="0" anchor="t"/>
          <a:lstStyle/>
          <a:p>
            <a:pPr algn="l"/>
            <a:r>
              <a:rPr sz="1100" b="1" i="0">
                <a:solidFill>
                  <a:srgbClr val="009881"/>
                </a:solidFill>
                <a:latin typeface="Arial"/>
              </a:rPr>
              <a:t>H3 placebo &amp; ≥ 20 peerů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B2B2B"/>
                </a:solidFill>
                <a:latin typeface="Arial"/>
              </a:rPr>
              <a:t>Placebo |t| ≤ 0,90 vs. reálné t = +2,93. Velké cely: t = +3,09.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76000" y="3852000"/>
            <a:ext cx="64800" cy="972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5040000"/>
            <a:ext cx="54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Pozn.: Vodorovné pásmo |t| = 2 odpovídá hladině 5 %.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Závěr a přínos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1" y="1692000"/>
            <a:ext cx="2628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8001" y="1836000"/>
            <a:ext cx="360000" cy="360000"/>
          </a:xfrm>
          <a:prstGeom prst="ellipse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1" y="1836000"/>
            <a:ext cx="187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881"/>
                </a:solidFill>
                <a:latin typeface="Arial"/>
              </a:rPr>
              <a:t>Objem ≠ specifičnost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Oba kanály jsou současně identifikovatelné, jen je nutné je v jedné regresi.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8000" y="1692000"/>
            <a:ext cx="2628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02000" y="1836000"/>
            <a:ext cx="360000" cy="360000"/>
          </a:xfrm>
          <a:prstGeom prst="ellipse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0000" y="1836000"/>
            <a:ext cx="187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Boilerplate, ne hedging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Negativní efekt drží LM-Litigious slovník — ne obecné výrazy nejistoty.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1999" y="1692000"/>
            <a:ext cx="2628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55999" y="1836000"/>
            <a:ext cx="360000" cy="360000"/>
          </a:xfrm>
          <a:prstGeom prst="ellipse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3999" y="1836000"/>
            <a:ext cx="187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881"/>
                </a:solidFill>
                <a:latin typeface="Arial"/>
              </a:rPr>
              <a:t>Mlčení vůči peerům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Co firma neřekne relativně k peerům informuje o budoucí volatilitě — within-firm.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600000"/>
            <a:ext cx="64800" cy="72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6800" y="3600000"/>
            <a:ext cx="8035200" cy="720000"/>
          </a:xfrm>
          <a:prstGeom prst="rect">
            <a:avLst/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Limity: predikční (nikoli kauzální) čtení  ·  vzorek velkých amerických firem  ·  H3 závisí na volbě peer-benchmarku (SIC2).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4464000"/>
            <a:ext cx="64800" cy="72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6800" y="4464000"/>
            <a:ext cx="8035200" cy="720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Přínos: replikovatelná pipeline (SEC EDGAR XBRL · HTML parser · LM dekompozice · peer-omission konstrukt) — modulární a otevřená dalším otázkám.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9881"/>
                </a:solidFill>
                <a:latin typeface="Arial"/>
              </a:rPr>
              <a:t>Děkuji za pozornost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2000" b="0" i="0">
                <a:solidFill>
                  <a:srgbClr val="4A4A49"/>
                </a:solidFill>
                <a:latin typeface="Arial"/>
              </a:rPr>
              <a:t>Dotazy a diskuse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888888"/>
                </a:solidFill>
                <a:latin typeface="Arial"/>
              </a:rPr>
              <a:t>Šimon Slanský · VŠE FIS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EFCF83D5-7C28-494A-9D09-A3FDE4EA5435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5F4265E7-B574-4FDE-A297-F5250285698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EAD61CDED85140BF5B934B48DD3484" ma:contentTypeVersion="15" ma:contentTypeDescription="Create a new document." ma:contentTypeScope="" ma:versionID="cc982a5df0320791fbc3ea24d0deba6b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b8f28b2c1c50d19b407cb644c1af36e4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DE5107-EA5C-49BC-849B-82F30D30C53B}">
  <ds:schemaRefs>
    <ds:schemaRef ds:uri="http://schemas.microsoft.com/office/2006/metadata/properties"/>
    <ds:schemaRef ds:uri="http://schemas.microsoft.com/office/infopath/2007/PartnerControls"/>
    <ds:schemaRef ds:uri="7fe71cfb-81ed-4b9d-9a1f-cae1a72b62ba"/>
    <ds:schemaRef ds:uri="184be059-f9c1-47a1-baeb-6b78fb5c2cd7"/>
  </ds:schemaRefs>
</ds:datastoreItem>
</file>

<file path=customXml/itemProps2.xml><?xml version="1.0" encoding="utf-8"?>
<ds:datastoreItem xmlns:ds="http://schemas.openxmlformats.org/officeDocument/2006/customXml" ds:itemID="{632259C9-B307-4FF4-B7D2-DAD5D3FFF0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33166F-1A7A-45E1-8E02-BD01A8AC40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e71cfb-81ed-4b9d-9a1f-cae1a72b62ba"/>
    <ds:schemaRef ds:uri="184be059-f9c1-47a1-baeb-6b78fb5c2c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</TotalTime>
  <Words>970</Words>
  <Application>Microsoft Office PowerPoint</Application>
  <PresentationFormat>On-screen Show (4:3)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Úvodní snímek</vt:lpstr>
      <vt:lpstr>Mezititulek / Závěr</vt:lpstr>
      <vt:lpstr>Běžné stránky</vt:lpstr>
      <vt:lpstr>Dekompozice jazyka rizikových faktorů
v 10-K výkazech a následná
volatilita akciových výnosů</vt:lpstr>
      <vt:lpstr>Motivace — dvě protichůdné literatury</vt:lpstr>
      <vt:lpstr>Hypotézy</vt:lpstr>
      <vt:lpstr>Data — pipeline</vt:lpstr>
      <vt:lpstr>Metodologie</vt:lpstr>
      <vt:lpstr>Výsledky — koeficienty napříč horizonty</vt:lpstr>
      <vt:lpstr>Dekompozice LM slovníku (druhý stupeň H2)</vt:lpstr>
      <vt:lpstr>Strategické mlčení (H3) — peer-relativní opomenutí</vt:lpstr>
      <vt:lpstr>Robustnost — t-statistiky napříč horizonty</vt:lpstr>
      <vt:lpstr>Závěr a přínos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Daniel</dc:creator>
  <cp:lastModifiedBy>Simon Slansky</cp:lastModifiedBy>
  <cp:revision>97</cp:revision>
  <dcterms:created xsi:type="dcterms:W3CDTF">2020-10-22T18:30:25Z</dcterms:created>
  <dcterms:modified xsi:type="dcterms:W3CDTF">2026-05-28T06:27:02Z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